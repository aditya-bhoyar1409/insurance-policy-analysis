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6" r:id="rId11"/>
    <p:sldId id="275" r:id="rId12"/>
    <p:sldId id="276" r:id="rId13"/>
    <p:sldId id="277" r:id="rId14"/>
    <p:sldId id="265" r:id="rId15"/>
    <p:sldId id="267" r:id="rId16"/>
    <p:sldId id="268" r:id="rId17"/>
    <p:sldId id="269" r:id="rId18"/>
    <p:sldId id="270" r:id="rId19"/>
    <p:sldId id="271" r:id="rId20"/>
    <p:sldId id="278" r:id="rId21"/>
    <p:sldId id="279" r:id="rId22"/>
    <p:sldId id="280" r:id="rId23"/>
    <p:sldId id="272" r:id="rId24"/>
    <p:sldId id="273" r:id="rId25"/>
    <p:sldId id="27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0FB0"/>
    <a:srgbClr val="B126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3D1D-7997-593C-EF75-80D985B97E44}" v="349" dt="2026-07-26T14:56:14.450"/>
    <p1510:client id="{835E8F02-8CF8-031A-5597-BFC7E29826DB}" v="189" dt="2026-07-27T11:29:44.927"/>
    <p1510:client id="{86A6FD06-A612-43B9-9088-787110D23103}" v="153" dt="2026-07-26T10:03:13.527"/>
    <p1510:client id="{E43DDB6F-6631-2B2C-FD98-59A1C058287D}" v="405" dt="2026-07-27T10:56:31.909"/>
    <p1510:client id="{F749F3DB-EC15-3072-AC91-8AC8B0B30E40}" v="127" dt="2026-07-26T09:31:55.9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430CD9-FE60-4909-93F2-AF45734B5795}" type="datetimeFigureOut">
              <a:t>8/1/2026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9E7239-996B-4559-830B-AF4B1B8F31BD}" type="slidenum">
              <a:t>‹#›</a:t>
            </a:fld>
            <a:endParaRPr lang="en-US"/>
          </a:p>
        </p:txBody>
      </p:sp>
    </p:spTree>
    <p:extLst>
      <p:ext uri="{BB962C8B-B14F-4D97-AF65-F5344CB8AC3E}">
        <p14:creationId xmlns:p14="http://schemas.microsoft.com/office/powerpoint/2010/main" val="425299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11" indent="0" algn="ctr">
              <a:buNone/>
              <a:defRPr sz="2000"/>
            </a:lvl2pPr>
            <a:lvl3pPr marL="914422" indent="0" algn="ctr">
              <a:buNone/>
              <a:defRPr sz="1800"/>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9DC1409-1729-4644-874D-3C0E72553422}"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2388469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DC1409-1729-4644-874D-3C0E72553422}"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130364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11" indent="0">
              <a:buNone/>
              <a:defRPr sz="2000">
                <a:solidFill>
                  <a:schemeClr val="tx1">
                    <a:tint val="75000"/>
                  </a:schemeClr>
                </a:solidFill>
              </a:defRPr>
            </a:lvl2pPr>
            <a:lvl3pPr marL="914422" indent="0">
              <a:buNone/>
              <a:defRPr sz="1800">
                <a:solidFill>
                  <a:schemeClr val="tx1">
                    <a:tint val="75000"/>
                  </a:schemeClr>
                </a:solidFill>
              </a:defRPr>
            </a:lvl3pPr>
            <a:lvl4pPr marL="1371633" indent="0">
              <a:buNone/>
              <a:defRPr sz="1600">
                <a:solidFill>
                  <a:schemeClr val="tx1">
                    <a:tint val="75000"/>
                  </a:schemeClr>
                </a:solidFill>
              </a:defRPr>
            </a:lvl4pPr>
            <a:lvl5pPr marL="1828844" indent="0">
              <a:buNone/>
              <a:defRPr sz="1600">
                <a:solidFill>
                  <a:schemeClr val="tx1">
                    <a:tint val="75000"/>
                  </a:schemeClr>
                </a:solidFill>
              </a:defRPr>
            </a:lvl5pPr>
            <a:lvl6pPr marL="2286055" indent="0">
              <a:buNone/>
              <a:defRPr sz="1600">
                <a:solidFill>
                  <a:schemeClr val="tx1">
                    <a:tint val="75000"/>
                  </a:schemeClr>
                </a:solidFill>
              </a:defRPr>
            </a:lvl6pPr>
            <a:lvl7pPr marL="2743266" indent="0">
              <a:buNone/>
              <a:defRPr sz="1600">
                <a:solidFill>
                  <a:schemeClr val="tx1">
                    <a:tint val="75000"/>
                  </a:schemeClr>
                </a:solidFill>
              </a:defRPr>
            </a:lvl7pPr>
            <a:lvl8pPr marL="3200476" indent="0">
              <a:buNone/>
              <a:defRPr sz="1600">
                <a:solidFill>
                  <a:schemeClr val="tx1">
                    <a:tint val="75000"/>
                  </a:schemeClr>
                </a:solidFill>
              </a:defRPr>
            </a:lvl8pPr>
            <a:lvl9pPr marL="3657687"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DC1409-1729-4644-874D-3C0E72553422}"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90638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DC1409-1729-4644-874D-3C0E72553422}" type="datetimeFigureOut">
              <a:rPr lang="en-IN" smtClean="0"/>
              <a:t>01-08-2026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1578935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11" indent="0">
              <a:buNone/>
              <a:defRPr sz="2000" b="1"/>
            </a:lvl2pPr>
            <a:lvl3pPr marL="914422" indent="0">
              <a:buNone/>
              <a:defRPr sz="1800" b="1"/>
            </a:lvl3pPr>
            <a:lvl4pPr marL="1371633" indent="0">
              <a:buNone/>
              <a:defRPr sz="1600" b="1"/>
            </a:lvl4pPr>
            <a:lvl5pPr marL="1828844" indent="0">
              <a:buNone/>
              <a:defRPr sz="1600" b="1"/>
            </a:lvl5pPr>
            <a:lvl6pPr marL="2286055" indent="0">
              <a:buNone/>
              <a:defRPr sz="1600" b="1"/>
            </a:lvl6pPr>
            <a:lvl7pPr marL="2743266" indent="0">
              <a:buNone/>
              <a:defRPr sz="1600" b="1"/>
            </a:lvl7pPr>
            <a:lvl8pPr marL="3200476" indent="0">
              <a:buNone/>
              <a:defRPr sz="1600" b="1"/>
            </a:lvl8pPr>
            <a:lvl9pPr marL="3657687"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11" indent="0">
              <a:buNone/>
              <a:defRPr sz="2000" b="1"/>
            </a:lvl2pPr>
            <a:lvl3pPr marL="914422" indent="0">
              <a:buNone/>
              <a:defRPr sz="1800" b="1"/>
            </a:lvl3pPr>
            <a:lvl4pPr marL="1371633" indent="0">
              <a:buNone/>
              <a:defRPr sz="1600" b="1"/>
            </a:lvl4pPr>
            <a:lvl5pPr marL="1828844" indent="0">
              <a:buNone/>
              <a:defRPr sz="1600" b="1"/>
            </a:lvl5pPr>
            <a:lvl6pPr marL="2286055" indent="0">
              <a:buNone/>
              <a:defRPr sz="1600" b="1"/>
            </a:lvl6pPr>
            <a:lvl7pPr marL="2743266" indent="0">
              <a:buNone/>
              <a:defRPr sz="1600" b="1"/>
            </a:lvl7pPr>
            <a:lvl8pPr marL="3200476" indent="0">
              <a:buNone/>
              <a:defRPr sz="1600" b="1"/>
            </a:lvl8pPr>
            <a:lvl9pPr marL="365768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DC1409-1729-4644-874D-3C0E72553422}" type="datetimeFigureOut">
              <a:rPr lang="en-IN" smtClean="0"/>
              <a:t>01-08-2026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469356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DC1409-1729-4644-874D-3C0E72553422}" type="datetimeFigureOut">
              <a:rPr lang="en-IN" smtClean="0"/>
              <a:t>01-08-2026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314989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DC1409-1729-4644-874D-3C0E72553422}" type="datetimeFigureOut">
              <a:rPr lang="en-IN" smtClean="0"/>
              <a:t>01-08-2026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261126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8" cy="3811588"/>
          </a:xfrm>
        </p:spPr>
        <p:txBody>
          <a:bodyPr/>
          <a:lstStyle>
            <a:lvl1pPr marL="0" indent="0">
              <a:buNone/>
              <a:defRPr sz="1600"/>
            </a:lvl1pPr>
            <a:lvl2pPr marL="457211" indent="0">
              <a:buNone/>
              <a:defRPr sz="1400"/>
            </a:lvl2pPr>
            <a:lvl3pPr marL="914422" indent="0">
              <a:buNone/>
              <a:defRPr sz="1200"/>
            </a:lvl3pPr>
            <a:lvl4pPr marL="1371633" indent="0">
              <a:buNone/>
              <a:defRPr sz="1000"/>
            </a:lvl4pPr>
            <a:lvl5pPr marL="1828844" indent="0">
              <a:buNone/>
              <a:defRPr sz="1000"/>
            </a:lvl5pPr>
            <a:lvl6pPr marL="2286055" indent="0">
              <a:buNone/>
              <a:defRPr sz="1000"/>
            </a:lvl6pPr>
            <a:lvl7pPr marL="2743266" indent="0">
              <a:buNone/>
              <a:defRPr sz="1000"/>
            </a:lvl7pPr>
            <a:lvl8pPr marL="3200476" indent="0">
              <a:buNone/>
              <a:defRPr sz="1000"/>
            </a:lvl8pPr>
            <a:lvl9pPr marL="3657687"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DC1409-1729-4644-874D-3C0E72553422}" type="datetimeFigureOut">
              <a:rPr lang="en-IN" smtClean="0"/>
              <a:t>01-08-2026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2654070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11" indent="0">
              <a:buNone/>
              <a:defRPr sz="2800"/>
            </a:lvl2pPr>
            <a:lvl3pPr marL="914422" indent="0">
              <a:buNone/>
              <a:defRPr sz="2400"/>
            </a:lvl3pPr>
            <a:lvl4pPr marL="1371633" indent="0">
              <a:buNone/>
              <a:defRPr sz="2000"/>
            </a:lvl4pPr>
            <a:lvl5pPr marL="1828844" indent="0">
              <a:buNone/>
              <a:defRPr sz="2000"/>
            </a:lvl5pPr>
            <a:lvl6pPr marL="2286055" indent="0">
              <a:buNone/>
              <a:defRPr sz="2000"/>
            </a:lvl6pPr>
            <a:lvl7pPr marL="2743266" indent="0">
              <a:buNone/>
              <a:defRPr sz="2000"/>
            </a:lvl7pPr>
            <a:lvl8pPr marL="3200476" indent="0">
              <a:buNone/>
              <a:defRPr sz="2000"/>
            </a:lvl8pPr>
            <a:lvl9pPr marL="3657687"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8" cy="3811588"/>
          </a:xfrm>
        </p:spPr>
        <p:txBody>
          <a:bodyPr/>
          <a:lstStyle>
            <a:lvl1pPr marL="0" indent="0">
              <a:buNone/>
              <a:defRPr sz="1600"/>
            </a:lvl1pPr>
            <a:lvl2pPr marL="457211" indent="0">
              <a:buNone/>
              <a:defRPr sz="1400"/>
            </a:lvl2pPr>
            <a:lvl3pPr marL="914422" indent="0">
              <a:buNone/>
              <a:defRPr sz="1200"/>
            </a:lvl3pPr>
            <a:lvl4pPr marL="1371633" indent="0">
              <a:buNone/>
              <a:defRPr sz="1000"/>
            </a:lvl4pPr>
            <a:lvl5pPr marL="1828844" indent="0">
              <a:buNone/>
              <a:defRPr sz="1000"/>
            </a:lvl5pPr>
            <a:lvl6pPr marL="2286055" indent="0">
              <a:buNone/>
              <a:defRPr sz="1000"/>
            </a:lvl6pPr>
            <a:lvl7pPr marL="2743266" indent="0">
              <a:buNone/>
              <a:defRPr sz="1000"/>
            </a:lvl7pPr>
            <a:lvl8pPr marL="3200476" indent="0">
              <a:buNone/>
              <a:defRPr sz="1000"/>
            </a:lvl8pPr>
            <a:lvl9pPr marL="3657687"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DC1409-1729-4644-874D-3C0E72553422}" type="datetimeFigureOut">
              <a:rPr lang="en-IN" smtClean="0"/>
              <a:t>01-08-2026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1527498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DC1409-1729-4644-874D-3C0E72553422}"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1395778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1"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1"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DC1409-1729-4644-874D-3C0E72553422}"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7930E0-021F-48D3-8527-75AA5368929D}" type="slidenum">
              <a:rPr lang="en-IN" smtClean="0"/>
              <a:t>‹#›</a:t>
            </a:fld>
            <a:endParaRPr lang="en-IN"/>
          </a:p>
        </p:txBody>
      </p:sp>
    </p:spTree>
    <p:extLst>
      <p:ext uri="{BB962C8B-B14F-4D97-AF65-F5344CB8AC3E}">
        <p14:creationId xmlns:p14="http://schemas.microsoft.com/office/powerpoint/2010/main" val="845060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5852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DC1409-1729-4644-874D-3C0E72553422}" type="datetimeFigureOut">
              <a:rPr lang="en-IN" smtClean="0"/>
              <a:t>01-08-2026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7930E0-021F-48D3-8527-75AA5368929D}" type="slidenum">
              <a:rPr lang="en-IN" smtClean="0"/>
              <a:t>‹#›</a:t>
            </a:fld>
            <a:endParaRPr lang="en-IN"/>
          </a:p>
        </p:txBody>
      </p:sp>
    </p:spTree>
    <p:extLst>
      <p:ext uri="{BB962C8B-B14F-4D97-AF65-F5344CB8AC3E}">
        <p14:creationId xmlns:p14="http://schemas.microsoft.com/office/powerpoint/2010/main" val="159052697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22" rtl="0" eaLnBrk="1" latinLnBrk="0" hangingPunct="1">
        <a:lnSpc>
          <a:spcPct val="90000"/>
        </a:lnSpc>
        <a:spcBef>
          <a:spcPct val="0"/>
        </a:spcBef>
        <a:buNone/>
        <a:defRPr sz="4401" kern="1200">
          <a:solidFill>
            <a:schemeClr val="tx1"/>
          </a:solidFill>
          <a:latin typeface="+mj-lt"/>
          <a:ea typeface="+mj-ea"/>
          <a:cs typeface="+mj-cs"/>
        </a:defRPr>
      </a:lvl1pPr>
    </p:titleStyle>
    <p:bodyStyle>
      <a:lvl1pPr marL="228605" indent="-228605" algn="l" defTabSz="91442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6" indent="-228605" algn="l" defTabSz="91442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7" indent="-228605" algn="l" defTabSz="91442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39"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49"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0"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1"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2"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3"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2" rtl="0" eaLnBrk="1" latinLnBrk="0" hangingPunct="1">
        <a:defRPr sz="1800" kern="1200">
          <a:solidFill>
            <a:schemeClr val="tx1"/>
          </a:solidFill>
          <a:latin typeface="+mn-lt"/>
          <a:ea typeface="+mn-ea"/>
          <a:cs typeface="+mn-cs"/>
        </a:defRPr>
      </a:lvl1pPr>
      <a:lvl2pPr marL="457211" algn="l" defTabSz="914422" rtl="0" eaLnBrk="1" latinLnBrk="0" hangingPunct="1">
        <a:defRPr sz="1800" kern="1200">
          <a:solidFill>
            <a:schemeClr val="tx1"/>
          </a:solidFill>
          <a:latin typeface="+mn-lt"/>
          <a:ea typeface="+mn-ea"/>
          <a:cs typeface="+mn-cs"/>
        </a:defRPr>
      </a:lvl2pPr>
      <a:lvl3pPr marL="914422" algn="l" defTabSz="914422" rtl="0" eaLnBrk="1" latinLnBrk="0" hangingPunct="1">
        <a:defRPr sz="1800" kern="1200">
          <a:solidFill>
            <a:schemeClr val="tx1"/>
          </a:solidFill>
          <a:latin typeface="+mn-lt"/>
          <a:ea typeface="+mn-ea"/>
          <a:cs typeface="+mn-cs"/>
        </a:defRPr>
      </a:lvl3pPr>
      <a:lvl4pPr marL="1371633" algn="l" defTabSz="914422" rtl="0" eaLnBrk="1" latinLnBrk="0" hangingPunct="1">
        <a:defRPr sz="1800" kern="1200">
          <a:solidFill>
            <a:schemeClr val="tx1"/>
          </a:solidFill>
          <a:latin typeface="+mn-lt"/>
          <a:ea typeface="+mn-ea"/>
          <a:cs typeface="+mn-cs"/>
        </a:defRPr>
      </a:lvl4pPr>
      <a:lvl5pPr marL="1828844" algn="l" defTabSz="914422" rtl="0" eaLnBrk="1" latinLnBrk="0" hangingPunct="1">
        <a:defRPr sz="1800" kern="1200">
          <a:solidFill>
            <a:schemeClr val="tx1"/>
          </a:solidFill>
          <a:latin typeface="+mn-lt"/>
          <a:ea typeface="+mn-ea"/>
          <a:cs typeface="+mn-cs"/>
        </a:defRPr>
      </a:lvl5pPr>
      <a:lvl6pPr marL="2286055" algn="l" defTabSz="914422" rtl="0" eaLnBrk="1" latinLnBrk="0" hangingPunct="1">
        <a:defRPr sz="1800" kern="1200">
          <a:solidFill>
            <a:schemeClr val="tx1"/>
          </a:solidFill>
          <a:latin typeface="+mn-lt"/>
          <a:ea typeface="+mn-ea"/>
          <a:cs typeface="+mn-cs"/>
        </a:defRPr>
      </a:lvl6pPr>
      <a:lvl7pPr marL="2743266" algn="l" defTabSz="914422" rtl="0" eaLnBrk="1" latinLnBrk="0" hangingPunct="1">
        <a:defRPr sz="1800" kern="1200">
          <a:solidFill>
            <a:schemeClr val="tx1"/>
          </a:solidFill>
          <a:latin typeface="+mn-lt"/>
          <a:ea typeface="+mn-ea"/>
          <a:cs typeface="+mn-cs"/>
        </a:defRPr>
      </a:lvl7pPr>
      <a:lvl8pPr marL="3200476" algn="l" defTabSz="914422" rtl="0" eaLnBrk="1" latinLnBrk="0" hangingPunct="1">
        <a:defRPr sz="1800" kern="1200">
          <a:solidFill>
            <a:schemeClr val="tx1"/>
          </a:solidFill>
          <a:latin typeface="+mn-lt"/>
          <a:ea typeface="+mn-ea"/>
          <a:cs typeface="+mn-cs"/>
        </a:defRPr>
      </a:lvl8pPr>
      <a:lvl9pPr marL="3657687" algn="l" defTabSz="91442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slideLayout" Target="../slideLayouts/slideLayout2.xml"/><Relationship Id="rId5" Type="http://schemas.openxmlformats.org/officeDocument/2006/relationships/image" Target="../media/image47.svg"/><Relationship Id="rId4" Type="http://schemas.openxmlformats.org/officeDocument/2006/relationships/image" Target="../media/image46.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8.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8877" y="207818"/>
            <a:ext cx="5898573" cy="1371600"/>
          </a:xfrm>
        </p:spPr>
        <p:txBody>
          <a:bodyPr>
            <a:noAutofit/>
          </a:bodyPr>
          <a:lstStyle/>
          <a:p>
            <a:r>
              <a:rPr lang="en-IN" sz="4500" b="1">
                <a:latin typeface="Aptos"/>
              </a:rPr>
              <a:t>Insurance Analytics Dashboard</a:t>
            </a:r>
          </a:p>
        </p:txBody>
      </p:sp>
      <p:sp>
        <p:nvSpPr>
          <p:cNvPr id="3" name="Subtitle 2"/>
          <p:cNvSpPr>
            <a:spLocks noGrp="1"/>
          </p:cNvSpPr>
          <p:nvPr>
            <p:ph type="subTitle" idx="1"/>
          </p:nvPr>
        </p:nvSpPr>
        <p:spPr>
          <a:xfrm>
            <a:off x="0" y="1787237"/>
            <a:ext cx="6622473" cy="1274618"/>
          </a:xfrm>
        </p:spPr>
        <p:txBody>
          <a:bodyPr>
            <a:normAutofit/>
          </a:bodyPr>
          <a:lstStyle/>
          <a:p>
            <a:r>
              <a:rPr lang="en-IN" sz="2800" b="1">
                <a:solidFill>
                  <a:schemeClr val="accent4"/>
                </a:solidFill>
                <a:latin typeface="Aptos"/>
              </a:rPr>
              <a:t>Policy Performance &amp; Customer Insight</a:t>
            </a:r>
          </a:p>
          <a:p>
            <a:endParaRPr lang="en-IN" sz="2800" b="1">
              <a:solidFill>
                <a:schemeClr val="accent4"/>
              </a:solidFill>
              <a:latin typeface="Aptos"/>
            </a:endParaRPr>
          </a:p>
          <a:p>
            <a:pPr algn="l"/>
            <a:endParaRPr lang="en-IN" sz="2800" b="1">
              <a:solidFill>
                <a:schemeClr val="accent4"/>
              </a:solidFill>
              <a:latin typeface="Aptos"/>
            </a:endParaRPr>
          </a:p>
        </p:txBody>
      </p:sp>
      <p:pic>
        <p:nvPicPr>
          <p:cNvPr id="1026" name="Picture 2" descr="Insurtech Solutions | Smatech Grou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7382" y="3906982"/>
            <a:ext cx="5084618" cy="295101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28" name="Picture 4" descr="Insurance Prediction Model | AI for Risk Assessment &amp; Underwrit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5833" y="0"/>
            <a:ext cx="5256167" cy="390698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68877" y="2655791"/>
            <a:ext cx="5311487" cy="3247043"/>
          </a:xfrm>
          <a:prstGeom prst="rect">
            <a:avLst/>
          </a:prstGeom>
          <a:noFill/>
        </p:spPr>
        <p:txBody>
          <a:bodyPr wrap="square" rtlCol="0">
            <a:spAutoFit/>
          </a:bodyPr>
          <a:lstStyle/>
          <a:p>
            <a:endParaRPr lang="en-US" sz="2500"/>
          </a:p>
          <a:p>
            <a:r>
              <a:rPr lang="en-US" sz="2500" b="1" u="sng">
                <a:solidFill>
                  <a:schemeClr val="tx2"/>
                </a:solidFill>
              </a:rPr>
              <a:t>Tools Used:</a:t>
            </a:r>
          </a:p>
          <a:p>
            <a:endParaRPr lang="en-US" sz="2500" u="sng">
              <a:solidFill>
                <a:schemeClr val="tx2"/>
              </a:solidFill>
            </a:endParaRPr>
          </a:p>
          <a:p>
            <a:r>
              <a:rPr lang="en-IN" sz="2800">
                <a:solidFill>
                  <a:schemeClr val="accent3"/>
                </a:solidFill>
              </a:rPr>
              <a:t>✔</a:t>
            </a:r>
            <a:r>
              <a:rPr lang="en-IN" sz="2800"/>
              <a:t> </a:t>
            </a:r>
            <a:r>
              <a:rPr lang="en-US" sz="2500"/>
              <a:t>Microsoft Excel </a:t>
            </a:r>
          </a:p>
          <a:p>
            <a:r>
              <a:rPr lang="en-IN" sz="2800">
                <a:solidFill>
                  <a:schemeClr val="accent3"/>
                </a:solidFill>
              </a:rPr>
              <a:t>✔</a:t>
            </a:r>
            <a:r>
              <a:rPr lang="en-IN" sz="2800"/>
              <a:t> </a:t>
            </a:r>
            <a:r>
              <a:rPr lang="en-US" sz="2500"/>
              <a:t>MySQL </a:t>
            </a:r>
          </a:p>
          <a:p>
            <a:r>
              <a:rPr lang="en-IN" sz="2800">
                <a:solidFill>
                  <a:schemeClr val="accent3"/>
                </a:solidFill>
              </a:rPr>
              <a:t>✔</a:t>
            </a:r>
            <a:r>
              <a:rPr lang="en-IN" sz="2800"/>
              <a:t> </a:t>
            </a:r>
            <a:r>
              <a:rPr lang="en-US" sz="2500"/>
              <a:t>Power BI </a:t>
            </a:r>
          </a:p>
          <a:p>
            <a:r>
              <a:rPr lang="en-IN" sz="2800">
                <a:solidFill>
                  <a:schemeClr val="accent3"/>
                </a:solidFill>
              </a:rPr>
              <a:t>✔</a:t>
            </a:r>
            <a:r>
              <a:rPr lang="en-IN" sz="2800"/>
              <a:t> </a:t>
            </a:r>
            <a:r>
              <a:rPr lang="en-US" sz="2500"/>
              <a:t>Tableau </a:t>
            </a:r>
          </a:p>
          <a:p>
            <a:endParaRPr lang="en-IN"/>
          </a:p>
        </p:txBody>
      </p:sp>
    </p:spTree>
    <p:extLst>
      <p:ext uri="{BB962C8B-B14F-4D97-AF65-F5344CB8AC3E}">
        <p14:creationId xmlns:p14="http://schemas.microsoft.com/office/powerpoint/2010/main" val="572422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2790" y="129600"/>
            <a:ext cx="2639291" cy="812510"/>
          </a:xfrm>
        </p:spPr>
        <p:txBody>
          <a:bodyPr/>
          <a:lstStyle/>
          <a:p>
            <a:r>
              <a:rPr lang="en-IN" b="1">
                <a:solidFill>
                  <a:schemeClr val="accent4"/>
                </a:solidFill>
                <a:latin typeface="Aptos"/>
              </a:rPr>
              <a:t>Agenda</a:t>
            </a:r>
          </a:p>
        </p:txBody>
      </p:sp>
      <p:sp>
        <p:nvSpPr>
          <p:cNvPr id="8" name="Content Placeholder 7"/>
          <p:cNvSpPr>
            <a:spLocks noGrp="1"/>
          </p:cNvSpPr>
          <p:nvPr>
            <p:ph idx="1"/>
          </p:nvPr>
        </p:nvSpPr>
        <p:spPr>
          <a:xfrm>
            <a:off x="242453" y="1108363"/>
            <a:ext cx="5049982" cy="4516581"/>
          </a:xfrm>
        </p:spPr>
        <p:txBody>
          <a:bodyPr>
            <a:normAutofit fontScale="85000" lnSpcReduction="20000"/>
          </a:bodyPr>
          <a:lstStyle/>
          <a:p>
            <a:r>
              <a:rPr lang="en-US"/>
              <a:t>01. Project Introduction                             </a:t>
            </a:r>
          </a:p>
          <a:p>
            <a:endParaRPr lang="en-US"/>
          </a:p>
          <a:p>
            <a:r>
              <a:rPr lang="en-US"/>
              <a:t>02. Project Goal</a:t>
            </a:r>
          </a:p>
          <a:p>
            <a:endParaRPr lang="en-US"/>
          </a:p>
          <a:p>
            <a:r>
              <a:rPr lang="en-US"/>
              <a:t>03. Dataset Description</a:t>
            </a:r>
          </a:p>
          <a:p>
            <a:endParaRPr lang="en-US"/>
          </a:p>
          <a:p>
            <a:r>
              <a:rPr lang="en-US"/>
              <a:t>04. Dashboard Overview</a:t>
            </a:r>
          </a:p>
          <a:p>
            <a:endParaRPr lang="en-US"/>
          </a:p>
          <a:p>
            <a:r>
              <a:rPr lang="en-US"/>
              <a:t>05. Key Performance Indicators (KPIs)</a:t>
            </a:r>
          </a:p>
          <a:p>
            <a:endParaRPr lang="en-US"/>
          </a:p>
          <a:p>
            <a:r>
              <a:rPr lang="en-US"/>
              <a:t>06. Excel Dashboard Overview</a:t>
            </a:r>
            <a:endParaRPr lang="en-IN"/>
          </a:p>
        </p:txBody>
      </p:sp>
      <p:sp>
        <p:nvSpPr>
          <p:cNvPr id="9" name="TextBox 8"/>
          <p:cNvSpPr txBox="1"/>
          <p:nvPr/>
        </p:nvSpPr>
        <p:spPr>
          <a:xfrm>
            <a:off x="6082147" y="1108363"/>
            <a:ext cx="3713018" cy="3416320"/>
          </a:xfrm>
          <a:prstGeom prst="rect">
            <a:avLst/>
          </a:prstGeom>
          <a:noFill/>
        </p:spPr>
        <p:txBody>
          <a:bodyPr wrap="square" rtlCol="0">
            <a:spAutoFit/>
          </a:bodyPr>
          <a:lstStyle/>
          <a:p>
            <a:r>
              <a:rPr lang="en-US" sz="2400"/>
              <a:t>07. SQL Analysis</a:t>
            </a:r>
          </a:p>
          <a:p>
            <a:endParaRPr lang="en-US" sz="2400"/>
          </a:p>
          <a:p>
            <a:r>
              <a:rPr lang="en-US" sz="2400"/>
              <a:t>08. Power BI Dashboard</a:t>
            </a:r>
          </a:p>
          <a:p>
            <a:endParaRPr lang="en-US" sz="2400"/>
          </a:p>
          <a:p>
            <a:r>
              <a:rPr lang="en-US" sz="2400"/>
              <a:t>09. Tableau Dashboard</a:t>
            </a:r>
          </a:p>
          <a:p>
            <a:endParaRPr lang="en-US" sz="2400"/>
          </a:p>
          <a:p>
            <a:r>
              <a:rPr lang="en-US" sz="2400"/>
              <a:t>10. Conclusion</a:t>
            </a:r>
          </a:p>
          <a:p>
            <a:endParaRPr lang="en-US" sz="2400"/>
          </a:p>
          <a:p>
            <a:r>
              <a:rPr lang="en-US" sz="2400"/>
              <a:t>11. Recommendations</a:t>
            </a:r>
            <a:endParaRPr lang="en-IN" sz="2400"/>
          </a:p>
        </p:txBody>
      </p:sp>
    </p:spTree>
    <p:extLst>
      <p:ext uri="{BB962C8B-B14F-4D97-AF65-F5344CB8AC3E}">
        <p14:creationId xmlns:p14="http://schemas.microsoft.com/office/powerpoint/2010/main" val="1494555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837" y="277091"/>
            <a:ext cx="10515600" cy="1020763"/>
          </a:xfrm>
        </p:spPr>
        <p:txBody>
          <a:bodyPr/>
          <a:lstStyle/>
          <a:p>
            <a:r>
              <a:rPr lang="en-IN" b="1">
                <a:solidFill>
                  <a:schemeClr val="accent4"/>
                </a:solidFill>
                <a:latin typeface="Aptos"/>
              </a:rPr>
              <a:t>Introduction</a:t>
            </a:r>
          </a:p>
        </p:txBody>
      </p:sp>
      <p:sp>
        <p:nvSpPr>
          <p:cNvPr id="3" name="Content Placeholder 2"/>
          <p:cNvSpPr>
            <a:spLocks noGrp="1"/>
          </p:cNvSpPr>
          <p:nvPr>
            <p:ph idx="1"/>
          </p:nvPr>
        </p:nvSpPr>
        <p:spPr>
          <a:xfrm>
            <a:off x="0" y="1533381"/>
            <a:ext cx="6802582" cy="5324619"/>
          </a:xfrm>
        </p:spPr>
        <p:txBody>
          <a:bodyPr>
            <a:normAutofit/>
          </a:bodyPr>
          <a:lstStyle/>
          <a:p>
            <a:pPr>
              <a:buFont typeface="Wingdings" panose="05000000000000000000" pitchFamily="2" charset="2"/>
              <a:buChar char="§"/>
            </a:pPr>
            <a:r>
              <a:rPr lang="en-US" sz="2500"/>
              <a:t>The Insurance Analytics Dashboard is developed to analyze insurance policy data and generate meaningful business insights. The dashboard enables users to monitor policy performance, premium collection, customer demographics, payment information, and yearly business trends.</a:t>
            </a:r>
          </a:p>
          <a:p>
            <a:pPr>
              <a:buFont typeface="Wingdings" panose="05000000000000000000" pitchFamily="2" charset="2"/>
              <a:buChar char="§"/>
            </a:pPr>
            <a:r>
              <a:rPr lang="en-US" sz="2500"/>
              <a:t>Using interactive visualizations, the dashboard helps management identify patterns, monitor key performance indicators (KPIs), and make data-driven decisions to improve overall business performance.</a:t>
            </a:r>
          </a:p>
          <a:p>
            <a:endParaRPr lang="en-IN"/>
          </a:p>
        </p:txBody>
      </p:sp>
      <p:pic>
        <p:nvPicPr>
          <p:cNvPr id="3076" name="Picture 4" descr="https://images.openai.com/static-rsc-4/gvMuh7H9Y4rftKnUprBzpGUaXapO8YSTlxifkeIR_3u3NeAnmhuZtg3ky9Eg36CSs8T_Rpo9UV1jjgIem1IYxVnLtFeuBKnYLul7IEHX7E8aMMi_3-KKO2MGjdMTwbLKupxQ1rjvmTec4frzxxvb0oHnh_TdP2hXFM2VEuP-iU2qP-C2JhFFNjeIxjN-yh15?purpose=fullsiz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0509" y="1533380"/>
            <a:ext cx="4890656" cy="532461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363030"/>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436" y="166255"/>
            <a:ext cx="3955473" cy="775854"/>
          </a:xfrm>
        </p:spPr>
        <p:txBody>
          <a:bodyPr/>
          <a:lstStyle/>
          <a:p>
            <a:r>
              <a:rPr lang="en-IN" b="1">
                <a:solidFill>
                  <a:schemeClr val="accent4"/>
                </a:solidFill>
                <a:latin typeface="Aptos"/>
              </a:rPr>
              <a:t>Project Goal</a:t>
            </a:r>
          </a:p>
        </p:txBody>
      </p:sp>
      <p:sp>
        <p:nvSpPr>
          <p:cNvPr id="3" name="Content Placeholder 2"/>
          <p:cNvSpPr>
            <a:spLocks noGrp="1"/>
          </p:cNvSpPr>
          <p:nvPr>
            <p:ph idx="1"/>
          </p:nvPr>
        </p:nvSpPr>
        <p:spPr>
          <a:xfrm>
            <a:off x="339436" y="1131600"/>
            <a:ext cx="11630891" cy="4645745"/>
          </a:xfrm>
        </p:spPr>
        <p:txBody>
          <a:bodyPr>
            <a:normAutofit fontScale="92500" lnSpcReduction="20000"/>
          </a:bodyPr>
          <a:lstStyle/>
          <a:p>
            <a:pPr marL="0" indent="0">
              <a:buNone/>
            </a:pPr>
            <a:r>
              <a:rPr lang="en-US" b="1" u="sng">
                <a:solidFill>
                  <a:schemeClr val="tx1">
                    <a:lumMod val="95000"/>
                  </a:schemeClr>
                </a:solidFill>
              </a:rPr>
              <a:t>Objective:</a:t>
            </a:r>
          </a:p>
          <a:p>
            <a:pPr marL="0" indent="0">
              <a:buNone/>
            </a:pPr>
            <a:r>
              <a:rPr lang="en-US"/>
              <a:t>To develop an interactive </a:t>
            </a:r>
            <a:r>
              <a:rPr lang="en-US" b="1"/>
              <a:t>Insurance Analytics Dashboard</a:t>
            </a:r>
            <a:r>
              <a:rPr lang="en-US"/>
              <a:t> that provides meaningful business insights and supports data-driven decision-making.</a:t>
            </a:r>
          </a:p>
          <a:p>
            <a:pPr marL="0" indent="0">
              <a:buNone/>
            </a:pPr>
            <a:endParaRPr lang="en-US"/>
          </a:p>
          <a:p>
            <a:pPr marL="0" indent="0">
              <a:buNone/>
            </a:pPr>
            <a:r>
              <a:rPr lang="en-US" b="1"/>
              <a:t>The dashboard helps to:</a:t>
            </a:r>
            <a:endParaRPr lang="en-US"/>
          </a:p>
          <a:p>
            <a:r>
              <a:rPr lang="en-US"/>
              <a:t>Analyze policy performance. </a:t>
            </a:r>
          </a:p>
          <a:p>
            <a:r>
              <a:rPr lang="en-US"/>
              <a:t>Track premium collection. </a:t>
            </a:r>
          </a:p>
          <a:p>
            <a:r>
              <a:rPr lang="en-US"/>
              <a:t>Monitor policy status. </a:t>
            </a:r>
          </a:p>
          <a:p>
            <a:r>
              <a:rPr lang="en-US"/>
              <a:t>Understand customer demographics. </a:t>
            </a:r>
          </a:p>
          <a:p>
            <a:r>
              <a:rPr lang="en-US"/>
              <a:t>Identify business trends. </a:t>
            </a:r>
          </a:p>
          <a:p>
            <a:r>
              <a:rPr lang="en-US"/>
              <a:t>Support strategic decision-making.</a:t>
            </a:r>
          </a:p>
          <a:p>
            <a:pPr marL="0" indent="0">
              <a:buNone/>
            </a:pPr>
            <a:endParaRPr lang="en-IN"/>
          </a:p>
        </p:txBody>
      </p:sp>
      <p:pic>
        <p:nvPicPr>
          <p:cNvPr id="5122" name="Picture 2" descr="5 Beginner-Level AI Courses for Pharma Consulting Lead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4218" y="2438400"/>
            <a:ext cx="6497782" cy="44196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5498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582" y="185018"/>
            <a:ext cx="10079182" cy="947880"/>
          </a:xfrm>
        </p:spPr>
        <p:txBody>
          <a:bodyPr/>
          <a:lstStyle/>
          <a:p>
            <a:r>
              <a:rPr lang="en-IN" b="1">
                <a:solidFill>
                  <a:schemeClr val="accent4"/>
                </a:solidFill>
                <a:latin typeface="Aptos"/>
              </a:rPr>
              <a:t>Dataset Description</a:t>
            </a:r>
          </a:p>
        </p:txBody>
      </p:sp>
      <p:sp>
        <p:nvSpPr>
          <p:cNvPr id="3" name="Content Placeholder 2"/>
          <p:cNvSpPr>
            <a:spLocks noGrp="1"/>
          </p:cNvSpPr>
          <p:nvPr>
            <p:ph idx="1"/>
          </p:nvPr>
        </p:nvSpPr>
        <p:spPr>
          <a:xfrm>
            <a:off x="325582" y="1132899"/>
            <a:ext cx="11173691" cy="959138"/>
          </a:xfrm>
        </p:spPr>
        <p:txBody>
          <a:bodyPr/>
          <a:lstStyle/>
          <a:p>
            <a:pPr marL="0" indent="0">
              <a:buNone/>
            </a:pPr>
            <a:r>
              <a:rPr lang="en-US"/>
              <a:t>The project uses an insurance dataset containing customer, policy, and payment-related information</a:t>
            </a:r>
            <a:endParaRPr lang="en-IN"/>
          </a:p>
        </p:txBody>
      </p:sp>
      <p:sp>
        <p:nvSpPr>
          <p:cNvPr id="13" name="Rectangle 6"/>
          <p:cNvSpPr>
            <a:spLocks noChangeArrowheads="1"/>
          </p:cNvSpPr>
          <p:nvPr/>
        </p:nvSpPr>
        <p:spPr bwMode="auto">
          <a:xfrm>
            <a:off x="976747" y="1976620"/>
            <a:ext cx="4177145"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500" b="0" i="0" u="none" strike="noStrike" cap="none" normalizeH="0" baseline="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Policy ID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Customer Age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Gender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Policy Start Date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Policy End Date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Premium Amount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Policy Status </a:t>
            </a:r>
          </a:p>
        </p:txBody>
      </p:sp>
      <p:sp>
        <p:nvSpPr>
          <p:cNvPr id="14" name="Rectangle 7"/>
          <p:cNvSpPr>
            <a:spLocks noChangeArrowheads="1"/>
          </p:cNvSpPr>
          <p:nvPr/>
        </p:nvSpPr>
        <p:spPr bwMode="auto">
          <a:xfrm>
            <a:off x="5065571" y="2092037"/>
            <a:ext cx="3030679"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sz="1800" b="0" i="0" u="none" strike="noStrike" cap="none" normalizeH="0" baseline="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Payment Status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Payment Method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Risk Score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Policy Discount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2500" b="0" i="0" u="none" strike="noStrike" cap="none" normalizeH="0" baseline="0">
                <a:ln>
                  <a:noFill/>
                </a:ln>
                <a:solidFill>
                  <a:schemeClr val="tx1"/>
                </a:solidFill>
                <a:effectLst/>
              </a:rPr>
              <a:t>Settlement Date </a:t>
            </a:r>
          </a:p>
        </p:txBody>
      </p:sp>
    </p:spTree>
    <p:extLst>
      <p:ext uri="{BB962C8B-B14F-4D97-AF65-F5344CB8AC3E}">
        <p14:creationId xmlns:p14="http://schemas.microsoft.com/office/powerpoint/2010/main" val="3298873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13201"/>
            <a:ext cx="10515600" cy="1203134"/>
          </a:xfrm>
        </p:spPr>
        <p:txBody>
          <a:bodyPr/>
          <a:lstStyle/>
          <a:p>
            <a:r>
              <a:rPr lang="en-IN" b="1">
                <a:solidFill>
                  <a:schemeClr val="accent4"/>
                </a:solidFill>
                <a:latin typeface="Aptos"/>
              </a:rPr>
              <a:t>Excel Dashboard Overview</a:t>
            </a:r>
          </a:p>
        </p:txBody>
      </p:sp>
      <p:pic>
        <p:nvPicPr>
          <p:cNvPr id="5" name="Content Placeholder 4">
            <a:extLst>
              <a:ext uri="{FF2B5EF4-FFF2-40B4-BE49-F238E27FC236}">
                <a16:creationId xmlns:a16="http://schemas.microsoft.com/office/drawing/2014/main" id="{FD712E60-8F62-8764-9FBF-04CEDEAA67A7}"/>
              </a:ext>
            </a:extLst>
          </p:cNvPr>
          <p:cNvPicPr>
            <a:picLocks noGrp="1" noChangeAspect="1"/>
          </p:cNvPicPr>
          <p:nvPr>
            <p:ph idx="1"/>
          </p:nvPr>
        </p:nvPicPr>
        <p:blipFill>
          <a:blip r:embed="rId2"/>
          <a:stretch>
            <a:fillRect/>
          </a:stretch>
        </p:blipFill>
        <p:spPr>
          <a:xfrm>
            <a:off x="1" y="1148383"/>
            <a:ext cx="12192000" cy="5709617"/>
          </a:xfrm>
          <a:prstGeom prst="rect">
            <a:avLst/>
          </a:prstGeom>
        </p:spPr>
      </p:pic>
    </p:spTree>
    <p:extLst>
      <p:ext uri="{BB962C8B-B14F-4D97-AF65-F5344CB8AC3E}">
        <p14:creationId xmlns:p14="http://schemas.microsoft.com/office/powerpoint/2010/main" val="2954597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EE52A-2A2E-D198-8BC7-A322983273BF}"/>
              </a:ext>
            </a:extLst>
          </p:cNvPr>
          <p:cNvSpPr>
            <a:spLocks noGrp="1"/>
          </p:cNvSpPr>
          <p:nvPr>
            <p:ph type="title"/>
          </p:nvPr>
        </p:nvSpPr>
        <p:spPr>
          <a:xfrm>
            <a:off x="838200" y="365127"/>
            <a:ext cx="10515600" cy="900966"/>
          </a:xfrm>
        </p:spPr>
        <p:txBody>
          <a:bodyPr>
            <a:normAutofit/>
          </a:bodyPr>
          <a:lstStyle/>
          <a:p>
            <a:r>
              <a:rPr lang="en-IN" sz="4400" b="1">
                <a:solidFill>
                  <a:srgbClr val="FFC000"/>
                </a:solidFill>
                <a:latin typeface="Aptos"/>
              </a:rPr>
              <a:t>KPI Overview &amp; Policy Performance</a:t>
            </a:r>
          </a:p>
        </p:txBody>
      </p:sp>
      <p:sp>
        <p:nvSpPr>
          <p:cNvPr id="17" name="Content Placeholder 16">
            <a:extLst>
              <a:ext uri="{FF2B5EF4-FFF2-40B4-BE49-F238E27FC236}">
                <a16:creationId xmlns:a16="http://schemas.microsoft.com/office/drawing/2014/main" id="{0535D87F-1690-15FC-2970-5B4E2A585EE5}"/>
              </a:ext>
            </a:extLst>
          </p:cNvPr>
          <p:cNvSpPr>
            <a:spLocks noGrp="1"/>
          </p:cNvSpPr>
          <p:nvPr>
            <p:ph idx="1"/>
          </p:nvPr>
        </p:nvSpPr>
        <p:spPr>
          <a:xfrm>
            <a:off x="432102" y="1691776"/>
            <a:ext cx="5463290" cy="4667248"/>
          </a:xfrm>
        </p:spPr>
        <p:txBody>
          <a:bodyPr vert="horz" lIns="91440" tIns="45720" rIns="91440" bIns="45720" rtlCol="0" anchor="t">
            <a:normAutofit/>
          </a:bodyPr>
          <a:lstStyle/>
          <a:p>
            <a:pPr marL="0" indent="0">
              <a:buNone/>
              <a:defRPr sz="1700" b="0"/>
            </a:pPr>
            <a:r>
              <a:rPr lang="en-US" sz="2000"/>
              <a:t>KPI Cards summarize overall business performance:</a:t>
            </a:r>
          </a:p>
          <a:p>
            <a:pPr marL="228600" indent="-228600">
              <a:defRPr sz="1700" b="0"/>
            </a:pPr>
            <a:r>
              <a:rPr lang="en-US" sz="2000"/>
              <a:t>Total Policies: 5,000 and Customers: 5,000.</a:t>
            </a:r>
            <a:endParaRPr lang="en-US" sz="2000">
              <a:ea typeface="Calibri" panose="020F0502020204030204"/>
              <a:cs typeface="Calibri" panose="020F0502020204030204"/>
            </a:endParaRPr>
          </a:p>
          <a:p>
            <a:pPr marL="228600" indent="-228600">
              <a:defRPr sz="1700" b="0"/>
            </a:pPr>
            <a:r>
              <a:rPr lang="en-US" sz="2000"/>
              <a:t>Total Claim Amount: ₹25.13 Cr.</a:t>
            </a:r>
            <a:endParaRPr lang="en-US" sz="2000">
              <a:ea typeface="Calibri" panose="020F0502020204030204"/>
              <a:cs typeface="Calibri" panose="020F0502020204030204"/>
            </a:endParaRPr>
          </a:p>
          <a:p>
            <a:pPr marL="228600" indent="-228600">
              <a:defRPr sz="1700" b="0"/>
            </a:pPr>
            <a:r>
              <a:rPr lang="en-US" sz="2000"/>
              <a:t>Avg Coverage: ₹2.54 Lakh | Avg Premium: ₹1,052.</a:t>
            </a:r>
            <a:endParaRPr lang="en-US" sz="2000">
              <a:ea typeface="Calibri" panose="020F0502020204030204"/>
              <a:cs typeface="Calibri" panose="020F0502020204030204"/>
            </a:endParaRPr>
          </a:p>
          <a:p>
            <a:pPr marL="0" indent="0">
              <a:buNone/>
              <a:defRPr sz="1700" b="0"/>
            </a:pPr>
            <a:r>
              <a:rPr lang="en-US" sz="2000"/>
              <a:t>Combo Chart - compares Premium vs Policies Sold.</a:t>
            </a:r>
          </a:p>
          <a:p>
            <a:pPr marL="0" indent="0">
              <a:buNone/>
              <a:defRPr sz="1700" b="0"/>
            </a:pPr>
            <a:r>
              <a:rPr lang="en-US" sz="2000"/>
              <a:t>Bar Chart - shows Health Insurance is the top-selling policy.</a:t>
            </a:r>
          </a:p>
          <a:p>
            <a:pPr marL="0" indent="0">
              <a:buNone/>
              <a:defRPr sz="1700" b="0"/>
            </a:pPr>
            <a:r>
              <a:rPr lang="en-US" sz="2000"/>
              <a:t>Line Chart - tracks monthly premium trend and seasonal changes.</a:t>
            </a:r>
            <a:endParaRPr lang="en-IN"/>
          </a:p>
        </p:txBody>
      </p:sp>
      <p:pic>
        <p:nvPicPr>
          <p:cNvPr id="19" name="Picture 18" descr="l.png">
            <a:extLst>
              <a:ext uri="{FF2B5EF4-FFF2-40B4-BE49-F238E27FC236}">
                <a16:creationId xmlns:a16="http://schemas.microsoft.com/office/drawing/2014/main" id="{10B5F9F3-C197-65E1-6384-119DDBBA31EF}"/>
              </a:ext>
            </a:extLst>
          </p:cNvPr>
          <p:cNvPicPr>
            <a:picLocks noChangeAspect="1"/>
          </p:cNvPicPr>
          <p:nvPr/>
        </p:nvPicPr>
        <p:blipFill>
          <a:blip r:embed="rId2"/>
          <a:stretch>
            <a:fillRect/>
          </a:stretch>
        </p:blipFill>
        <p:spPr>
          <a:xfrm>
            <a:off x="6190647" y="1369986"/>
            <a:ext cx="5463289" cy="5122887"/>
          </a:xfrm>
          <a:prstGeom prst="rect">
            <a:avLst/>
          </a:prstGeom>
        </p:spPr>
      </p:pic>
    </p:spTree>
    <p:extLst>
      <p:ext uri="{BB962C8B-B14F-4D97-AF65-F5344CB8AC3E}">
        <p14:creationId xmlns:p14="http://schemas.microsoft.com/office/powerpoint/2010/main" val="3935328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9957F-825D-DADD-D9DA-E968CEE57E5F}"/>
              </a:ext>
            </a:extLst>
          </p:cNvPr>
          <p:cNvSpPr>
            <a:spLocks noGrp="1"/>
          </p:cNvSpPr>
          <p:nvPr>
            <p:ph type="title"/>
          </p:nvPr>
        </p:nvSpPr>
        <p:spPr>
          <a:xfrm>
            <a:off x="838200" y="365127"/>
            <a:ext cx="10515600" cy="922498"/>
          </a:xfrm>
        </p:spPr>
        <p:txBody>
          <a:bodyPr>
            <a:normAutofit/>
          </a:bodyPr>
          <a:lstStyle/>
          <a:p>
            <a:r>
              <a:rPr lang="en-IN" sz="4400" b="1">
                <a:solidFill>
                  <a:srgbClr val="FFC000"/>
                </a:solidFill>
                <a:latin typeface="Aptos"/>
              </a:rPr>
              <a:t>Customer Analysis &amp; Payment Insights</a:t>
            </a:r>
          </a:p>
        </p:txBody>
      </p:sp>
      <p:pic>
        <p:nvPicPr>
          <p:cNvPr id="5" name="Content Placeholder 4">
            <a:extLst>
              <a:ext uri="{FF2B5EF4-FFF2-40B4-BE49-F238E27FC236}">
                <a16:creationId xmlns:a16="http://schemas.microsoft.com/office/drawing/2014/main" id="{7BC5C923-2F17-5DBE-0110-79A48AF6F470}"/>
              </a:ext>
            </a:extLst>
          </p:cNvPr>
          <p:cNvPicPr>
            <a:picLocks noGrp="1" noChangeAspect="1"/>
          </p:cNvPicPr>
          <p:nvPr>
            <p:ph idx="1"/>
          </p:nvPr>
        </p:nvPicPr>
        <p:blipFill>
          <a:blip r:embed="rId2"/>
          <a:stretch>
            <a:fillRect/>
          </a:stretch>
        </p:blipFill>
        <p:spPr>
          <a:xfrm>
            <a:off x="7333861" y="1413748"/>
            <a:ext cx="4019939" cy="5201655"/>
          </a:xfrm>
          <a:prstGeom prst="rect">
            <a:avLst/>
          </a:prstGeom>
        </p:spPr>
      </p:pic>
      <p:sp>
        <p:nvSpPr>
          <p:cNvPr id="7" name="TextBox 6">
            <a:extLst>
              <a:ext uri="{FF2B5EF4-FFF2-40B4-BE49-F238E27FC236}">
                <a16:creationId xmlns:a16="http://schemas.microsoft.com/office/drawing/2014/main" id="{CFFFFAAA-4A04-BA0B-CC69-DCF189F8FC7D}"/>
              </a:ext>
            </a:extLst>
          </p:cNvPr>
          <p:cNvSpPr txBox="1"/>
          <p:nvPr/>
        </p:nvSpPr>
        <p:spPr>
          <a:xfrm>
            <a:off x="838200" y="1782708"/>
            <a:ext cx="6097554" cy="3477875"/>
          </a:xfrm>
          <a:prstGeom prst="rect">
            <a:avLst/>
          </a:prstGeom>
          <a:noFill/>
        </p:spPr>
        <p:txBody>
          <a:bodyPr wrap="square" lIns="91440" tIns="45720" rIns="91440" bIns="45720" anchor="t">
            <a:spAutoFit/>
          </a:bodyPr>
          <a:lstStyle/>
          <a:p>
            <a:pPr marL="342900" indent="-342900" algn="just">
              <a:buFont typeface="Arial"/>
              <a:buChar char="•"/>
              <a:defRPr sz="1700" b="0"/>
            </a:pPr>
            <a:r>
              <a:rPr lang="en-US" sz="2000"/>
              <a:t>Age Group Analysis shows customers aged 60+ are the largest segment (36%).</a:t>
            </a:r>
            <a:endParaRPr lang="en-US"/>
          </a:p>
          <a:p>
            <a:pPr marL="342900" indent="-342900" algn="just">
              <a:buFont typeface="Arial"/>
              <a:buChar char="•"/>
              <a:defRPr sz="1700" b="0"/>
            </a:pPr>
            <a:endParaRPr lang="en-US" sz="2000">
              <a:ea typeface="Calibri" panose="020F0502020204030204"/>
              <a:cs typeface="Calibri" panose="020F0502020204030204"/>
            </a:endParaRPr>
          </a:p>
          <a:p>
            <a:pPr marL="342900" indent="-342900" algn="just">
              <a:buFont typeface="Arial"/>
              <a:buChar char="•"/>
              <a:defRPr sz="1700"/>
            </a:pPr>
            <a:r>
              <a:rPr lang="en-US" sz="2000"/>
              <a:t>The Top 5 Customer Claims chart highlights customers with the highest claim values.</a:t>
            </a:r>
            <a:endParaRPr lang="en-US" sz="2000">
              <a:ea typeface="Calibri" panose="020F0502020204030204"/>
              <a:cs typeface="Calibri" panose="020F0502020204030204"/>
            </a:endParaRPr>
          </a:p>
          <a:p>
            <a:pPr marL="342900" indent="-342900" algn="just">
              <a:buFont typeface="Arial"/>
              <a:buChar char="•"/>
              <a:defRPr sz="1700"/>
            </a:pPr>
            <a:endParaRPr lang="en-US" sz="2000">
              <a:ea typeface="Calibri" panose="020F0502020204030204"/>
              <a:cs typeface="Calibri" panose="020F0502020204030204"/>
            </a:endParaRPr>
          </a:p>
          <a:p>
            <a:pPr marL="342900" indent="-342900" algn="just">
              <a:buFont typeface="Arial"/>
              <a:buChar char="•"/>
              <a:defRPr sz="1700"/>
            </a:pPr>
            <a:r>
              <a:rPr lang="en-US" sz="2000"/>
              <a:t>Payment Method chart compares successful and failed transactions. </a:t>
            </a:r>
            <a:endParaRPr lang="en-US" sz="2000">
              <a:ea typeface="Calibri" panose="020F0502020204030204"/>
              <a:cs typeface="Calibri" panose="020F0502020204030204"/>
            </a:endParaRPr>
          </a:p>
          <a:p>
            <a:pPr marL="342900" indent="-342900" algn="just">
              <a:buFont typeface="Arial"/>
              <a:buChar char="•"/>
              <a:defRPr sz="1700"/>
            </a:pPr>
            <a:endParaRPr lang="en-US" sz="2000">
              <a:ea typeface="Calibri" panose="020F0502020204030204"/>
              <a:cs typeface="Calibri" panose="020F0502020204030204"/>
            </a:endParaRPr>
          </a:p>
          <a:p>
            <a:pPr marL="342900" indent="-342900" algn="just">
              <a:buFont typeface="Arial"/>
              <a:buChar char="•"/>
              <a:defRPr sz="1700"/>
            </a:pPr>
            <a:r>
              <a:rPr lang="en-US" sz="2000"/>
              <a:t>Slicers (Gender, Status, Payment Frequency) make the dashboard interactive and easy to filter.</a:t>
            </a:r>
            <a:endParaRPr lang="en-US" sz="2000">
              <a:ea typeface="Calibri" panose="020F0502020204030204"/>
              <a:cs typeface="Calibri" panose="020F0502020204030204"/>
            </a:endParaRPr>
          </a:p>
        </p:txBody>
      </p:sp>
    </p:spTree>
    <p:extLst>
      <p:ext uri="{BB962C8B-B14F-4D97-AF65-F5344CB8AC3E}">
        <p14:creationId xmlns:p14="http://schemas.microsoft.com/office/powerpoint/2010/main" val="2174904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475B0-F95E-AE2E-E9CE-6883DCFDA1BD}"/>
              </a:ext>
            </a:extLst>
          </p:cNvPr>
          <p:cNvSpPr>
            <a:spLocks noGrp="1"/>
          </p:cNvSpPr>
          <p:nvPr>
            <p:ph type="title"/>
          </p:nvPr>
        </p:nvSpPr>
        <p:spPr>
          <a:xfrm>
            <a:off x="838200" y="365127"/>
            <a:ext cx="11125200" cy="1007510"/>
          </a:xfrm>
        </p:spPr>
        <p:txBody>
          <a:bodyPr>
            <a:normAutofit fontScale="90000"/>
          </a:bodyPr>
          <a:lstStyle/>
          <a:p>
            <a:r>
              <a:rPr lang="en-IN" sz="4000" b="1">
                <a:solidFill>
                  <a:srgbClr val="FFC000"/>
                </a:solidFill>
                <a:latin typeface="Aptos"/>
              </a:rPr>
              <a:t>Overall Insights, Recommendations &amp;  Conclusion</a:t>
            </a:r>
          </a:p>
        </p:txBody>
      </p:sp>
      <p:sp>
        <p:nvSpPr>
          <p:cNvPr id="3" name="Content Placeholder 2">
            <a:extLst>
              <a:ext uri="{FF2B5EF4-FFF2-40B4-BE49-F238E27FC236}">
                <a16:creationId xmlns:a16="http://schemas.microsoft.com/office/drawing/2014/main" id="{603DC8A8-380F-4EFC-465A-DD6A10C1D089}"/>
              </a:ext>
            </a:extLst>
          </p:cNvPr>
          <p:cNvSpPr>
            <a:spLocks noGrp="1"/>
          </p:cNvSpPr>
          <p:nvPr>
            <p:ph idx="1"/>
          </p:nvPr>
        </p:nvSpPr>
        <p:spPr>
          <a:xfrm>
            <a:off x="499576" y="1420100"/>
            <a:ext cx="4172340" cy="3945001"/>
          </a:xfrm>
        </p:spPr>
        <p:txBody>
          <a:bodyPr vert="horz" lIns="91440" tIns="45720" rIns="91440" bIns="45720" rtlCol="0" anchor="t">
            <a:normAutofit fontScale="92500" lnSpcReduction="10000"/>
          </a:bodyPr>
          <a:lstStyle/>
          <a:p>
            <a:pPr marL="0" indent="0">
              <a:buNone/>
              <a:defRPr sz="1800" b="1"/>
            </a:pPr>
            <a:r>
              <a:rPr lang="en-US" sz="2300"/>
              <a:t>  Key Insights:</a:t>
            </a:r>
          </a:p>
          <a:p>
            <a:pPr marL="228600" indent="-228600">
              <a:defRPr sz="1800" b="0"/>
            </a:pPr>
            <a:r>
              <a:rPr lang="en-US" sz="2300"/>
              <a:t> Health Insurance is the best-performing policy type in both policy count and premium.</a:t>
            </a:r>
            <a:endParaRPr lang="en-US" sz="2300">
              <a:ea typeface="Calibri"/>
              <a:cs typeface="Calibri"/>
            </a:endParaRPr>
          </a:p>
          <a:p>
            <a:pPr marL="228600" indent="-228600">
              <a:defRPr sz="1800" b="0"/>
            </a:pPr>
            <a:r>
              <a:rPr lang="en-US" sz="2300"/>
              <a:t>Premium collection is consistent throughout the year with a peak in December.</a:t>
            </a:r>
            <a:endParaRPr lang="en-US" sz="2300">
              <a:ea typeface="Calibri"/>
              <a:cs typeface="Calibri"/>
            </a:endParaRPr>
          </a:p>
          <a:p>
            <a:pPr marL="228600" indent="-228600">
              <a:defRPr sz="1800" b="0"/>
            </a:pPr>
            <a:r>
              <a:rPr lang="en-US" sz="2300"/>
              <a:t>Senior citizens form the largest customer segment, indicating strong demand.</a:t>
            </a:r>
            <a:endParaRPr lang="en-US" sz="2300">
              <a:ea typeface="Calibri"/>
              <a:cs typeface="Calibri"/>
            </a:endParaRPr>
          </a:p>
          <a:p>
            <a:pPr marL="228600" indent="-228600">
              <a:defRPr sz="1800" b="0"/>
            </a:pPr>
            <a:r>
              <a:rPr lang="en-US" sz="2300"/>
              <a:t>Cash has the highest payment success rate.</a:t>
            </a:r>
            <a:endParaRPr lang="en-US" sz="2300">
              <a:ea typeface="Calibri"/>
              <a:cs typeface="Calibri"/>
            </a:endParaRPr>
          </a:p>
          <a:p>
            <a:pPr>
              <a:defRPr sz="1800" b="0"/>
            </a:pPr>
            <a:endParaRPr lang="en-US" sz="2300"/>
          </a:p>
          <a:p>
            <a:pPr marL="0" indent="0">
              <a:buNone/>
            </a:pPr>
            <a:endParaRPr lang="en-IN"/>
          </a:p>
        </p:txBody>
      </p:sp>
      <p:sp>
        <p:nvSpPr>
          <p:cNvPr id="5" name="TextBox 4">
            <a:extLst>
              <a:ext uri="{FF2B5EF4-FFF2-40B4-BE49-F238E27FC236}">
                <a16:creationId xmlns:a16="http://schemas.microsoft.com/office/drawing/2014/main" id="{6C3B52C6-7191-01AF-9937-BDFF4CA63F8C}"/>
              </a:ext>
            </a:extLst>
          </p:cNvPr>
          <p:cNvSpPr txBox="1"/>
          <p:nvPr/>
        </p:nvSpPr>
        <p:spPr>
          <a:xfrm>
            <a:off x="4790589" y="1420100"/>
            <a:ext cx="3212063" cy="3416320"/>
          </a:xfrm>
          <a:prstGeom prst="rect">
            <a:avLst/>
          </a:prstGeom>
          <a:noFill/>
        </p:spPr>
        <p:txBody>
          <a:bodyPr wrap="square" lIns="91440" tIns="45720" rIns="91440" bIns="45720" anchor="t">
            <a:spAutoFit/>
          </a:bodyPr>
          <a:lstStyle/>
          <a:p>
            <a:pPr>
              <a:defRPr sz="1800" b="1"/>
            </a:pPr>
            <a:r>
              <a:rPr lang="en-US" sz="1800"/>
              <a:t>Recommendations:</a:t>
            </a:r>
            <a:endParaRPr lang="en-US">
              <a:ea typeface="Calibri" panose="020F0502020204030204"/>
              <a:cs typeface="Calibri" panose="020F0502020204030204"/>
            </a:endParaRPr>
          </a:p>
          <a:p>
            <a:pPr>
              <a:defRPr sz="1800" b="0"/>
            </a:pPr>
            <a:endParaRPr lang="en-US" b="1"/>
          </a:p>
          <a:p>
            <a:pPr marL="285750" indent="-285750">
              <a:buFont typeface="Arial"/>
              <a:buChar char="•"/>
              <a:defRPr sz="1800" b="0"/>
            </a:pPr>
            <a:r>
              <a:rPr lang="en-US" sz="1800"/>
              <a:t> Promote Auto and Life Insurance through targeted marketing.</a:t>
            </a:r>
            <a:endParaRPr lang="en-US" sz="1800">
              <a:ea typeface="Calibri" panose="020F0502020204030204"/>
              <a:cs typeface="Calibri" panose="020F0502020204030204"/>
            </a:endParaRPr>
          </a:p>
          <a:p>
            <a:pPr marL="285750" indent="-285750">
              <a:buFont typeface="Arial"/>
              <a:buChar char="•"/>
              <a:defRPr sz="1800" b="0"/>
            </a:pPr>
            <a:r>
              <a:rPr lang="en-US" sz="1800"/>
              <a:t>Encourage digital payments and improve failed transaction handling.</a:t>
            </a:r>
            <a:endParaRPr lang="en-US" sz="1800">
              <a:ea typeface="Calibri" panose="020F0502020204030204"/>
              <a:cs typeface="Calibri" panose="020F0502020204030204"/>
            </a:endParaRPr>
          </a:p>
          <a:p>
            <a:pPr marL="285750" indent="-285750">
              <a:buFont typeface="Arial"/>
              <a:buChar char="•"/>
              <a:defRPr sz="1800" b="0"/>
            </a:pPr>
            <a:r>
              <a:rPr lang="en-US" sz="1800"/>
              <a:t>Add KPIs such as Claim Settlement Ratio, Renewal Rate, Agent Performance and Regional Analysis.</a:t>
            </a:r>
            <a:endParaRPr lang="en-US" sz="1800">
              <a:ea typeface="Calibri" panose="020F0502020204030204"/>
              <a:cs typeface="Calibri" panose="020F0502020204030204"/>
            </a:endParaRPr>
          </a:p>
        </p:txBody>
      </p:sp>
      <p:sp>
        <p:nvSpPr>
          <p:cNvPr id="7" name="TextBox 6">
            <a:extLst>
              <a:ext uri="{FF2B5EF4-FFF2-40B4-BE49-F238E27FC236}">
                <a16:creationId xmlns:a16="http://schemas.microsoft.com/office/drawing/2014/main" id="{C61CA19F-3CF1-B568-6FA7-80890A0E8FCD}"/>
              </a:ext>
            </a:extLst>
          </p:cNvPr>
          <p:cNvSpPr txBox="1"/>
          <p:nvPr/>
        </p:nvSpPr>
        <p:spPr>
          <a:xfrm>
            <a:off x="8324526" y="1420100"/>
            <a:ext cx="3465544" cy="2308324"/>
          </a:xfrm>
          <a:prstGeom prst="rect">
            <a:avLst/>
          </a:prstGeom>
          <a:noFill/>
        </p:spPr>
        <p:txBody>
          <a:bodyPr wrap="square" lIns="91440" tIns="45720" rIns="91440" bIns="45720" anchor="t">
            <a:spAutoFit/>
          </a:bodyPr>
          <a:lstStyle/>
          <a:p>
            <a:pPr>
              <a:defRPr sz="1800" b="0"/>
            </a:pPr>
            <a:r>
              <a:rPr lang="en-US" sz="1800" b="1"/>
              <a:t>Conclusion: </a:t>
            </a:r>
          </a:p>
          <a:p>
            <a:pPr>
              <a:defRPr sz="1800" b="0"/>
            </a:pPr>
            <a:endParaRPr lang="en-US" b="1"/>
          </a:p>
          <a:p>
            <a:pPr marL="285750" indent="-285750">
              <a:buFont typeface="Arial"/>
              <a:buChar char="•"/>
              <a:defRPr sz="1800" b="0"/>
            </a:pPr>
            <a:r>
              <a:rPr lang="en-US" sz="1800"/>
              <a:t>The dashboard provides actionable insights that help management improve profitability, customer retention and operational decision-making.</a:t>
            </a:r>
            <a:endParaRPr lang="en-US" sz="1800">
              <a:ea typeface="Calibri"/>
              <a:cs typeface="Calibri"/>
            </a:endParaRPr>
          </a:p>
        </p:txBody>
      </p:sp>
    </p:spTree>
    <p:extLst>
      <p:ext uri="{BB962C8B-B14F-4D97-AF65-F5344CB8AC3E}">
        <p14:creationId xmlns:p14="http://schemas.microsoft.com/office/powerpoint/2010/main" val="2407372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13AF6-D28B-89CA-ED26-2CC06D605DBC}"/>
              </a:ext>
            </a:extLst>
          </p:cNvPr>
          <p:cNvSpPr>
            <a:spLocks noGrp="1"/>
          </p:cNvSpPr>
          <p:nvPr>
            <p:ph type="ctrTitle"/>
          </p:nvPr>
        </p:nvSpPr>
        <p:spPr>
          <a:xfrm>
            <a:off x="1081314" y="128134"/>
            <a:ext cx="9144000" cy="587830"/>
          </a:xfrm>
        </p:spPr>
        <p:txBody>
          <a:bodyPr/>
          <a:lstStyle/>
          <a:p>
            <a:r>
              <a:rPr lang="en-IN" sz="3600" b="1">
                <a:solidFill>
                  <a:srgbClr val="FFC000"/>
                </a:solidFill>
                <a:latin typeface="Aptos"/>
              </a:rPr>
              <a:t> Power Bi Dashboard Overview</a:t>
            </a:r>
            <a:endParaRPr lang="en-US"/>
          </a:p>
        </p:txBody>
      </p:sp>
      <p:sp>
        <p:nvSpPr>
          <p:cNvPr id="3" name="Subtitle 2">
            <a:extLst>
              <a:ext uri="{FF2B5EF4-FFF2-40B4-BE49-F238E27FC236}">
                <a16:creationId xmlns:a16="http://schemas.microsoft.com/office/drawing/2014/main" id="{6272FD4F-F5A3-0CDD-8090-59DBA1D9B41C}"/>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B7F6F589-5F32-EDAD-AFF4-59B68A12DFB7}"/>
              </a:ext>
            </a:extLst>
          </p:cNvPr>
          <p:cNvPicPr>
            <a:picLocks noChangeAspect="1"/>
          </p:cNvPicPr>
          <p:nvPr/>
        </p:nvPicPr>
        <p:blipFill>
          <a:blip r:embed="rId2"/>
          <a:stretch>
            <a:fillRect/>
          </a:stretch>
        </p:blipFill>
        <p:spPr>
          <a:xfrm>
            <a:off x="1589" y="711654"/>
            <a:ext cx="12275910" cy="6138636"/>
          </a:xfrm>
          <a:prstGeom prst="rect">
            <a:avLst/>
          </a:prstGeom>
        </p:spPr>
      </p:pic>
    </p:spTree>
    <p:extLst>
      <p:ext uri="{BB962C8B-B14F-4D97-AF65-F5344CB8AC3E}">
        <p14:creationId xmlns:p14="http://schemas.microsoft.com/office/powerpoint/2010/main" val="3485707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1BA6-BF97-5B95-59D4-D30884A0CB50}"/>
              </a:ext>
            </a:extLst>
          </p:cNvPr>
          <p:cNvSpPr>
            <a:spLocks noGrp="1"/>
          </p:cNvSpPr>
          <p:nvPr>
            <p:ph type="title"/>
          </p:nvPr>
        </p:nvSpPr>
        <p:spPr>
          <a:xfrm>
            <a:off x="838200" y="365126"/>
            <a:ext cx="10515600" cy="1325563"/>
          </a:xfrm>
        </p:spPr>
        <p:txBody>
          <a:bodyPr>
            <a:normAutofit/>
          </a:bodyPr>
          <a:lstStyle/>
          <a:p>
            <a:r>
              <a:rPr lang="en-IN" sz="4400" b="1">
                <a:solidFill>
                  <a:srgbClr val="FFC000"/>
                </a:solidFill>
                <a:latin typeface="Aptos"/>
              </a:rPr>
              <a:t>KPI Overview &amp; Policy Performance</a:t>
            </a:r>
            <a:endParaRPr lang="en-US" sz="4400">
              <a:solidFill>
                <a:srgbClr val="000000"/>
              </a:solidFill>
              <a:latin typeface="Aptos"/>
            </a:endParaRPr>
          </a:p>
          <a:p>
            <a:endParaRPr lang="en-US" sz="4400">
              <a:ea typeface="Calibri Light"/>
              <a:cs typeface="Calibri Light"/>
            </a:endParaRPr>
          </a:p>
        </p:txBody>
      </p:sp>
      <p:pic>
        <p:nvPicPr>
          <p:cNvPr id="4" name="Content Placeholder 3">
            <a:extLst>
              <a:ext uri="{FF2B5EF4-FFF2-40B4-BE49-F238E27FC236}">
                <a16:creationId xmlns:a16="http://schemas.microsoft.com/office/drawing/2014/main" id="{F4D148D8-D4ED-0D40-863E-60714CE3029D}"/>
              </a:ext>
            </a:extLst>
          </p:cNvPr>
          <p:cNvPicPr>
            <a:picLocks noGrp="1" noChangeAspect="1"/>
          </p:cNvPicPr>
          <p:nvPr>
            <p:ph idx="1"/>
          </p:nvPr>
        </p:nvPicPr>
        <p:blipFill>
          <a:blip r:embed="rId2"/>
          <a:stretch>
            <a:fillRect/>
          </a:stretch>
        </p:blipFill>
        <p:spPr>
          <a:xfrm>
            <a:off x="7226710" y="1549854"/>
            <a:ext cx="4836065" cy="5135109"/>
          </a:xfrm>
          <a:prstGeom prst="rect">
            <a:avLst/>
          </a:prstGeom>
        </p:spPr>
      </p:pic>
      <p:sp>
        <p:nvSpPr>
          <p:cNvPr id="5" name="TextBox 4">
            <a:extLst>
              <a:ext uri="{FF2B5EF4-FFF2-40B4-BE49-F238E27FC236}">
                <a16:creationId xmlns:a16="http://schemas.microsoft.com/office/drawing/2014/main" id="{F54033ED-E647-7C1B-446F-7170BBCE2F59}"/>
              </a:ext>
            </a:extLst>
          </p:cNvPr>
          <p:cNvSpPr txBox="1"/>
          <p:nvPr/>
        </p:nvSpPr>
        <p:spPr>
          <a:xfrm>
            <a:off x="936171" y="1208314"/>
            <a:ext cx="5646058" cy="4862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0" i="0" u="none" strike="noStrike" baseline="0">
                <a:solidFill>
                  <a:srgbClr val="FFFFFF"/>
                </a:solidFill>
                <a:latin typeface="Calibri"/>
                <a:ea typeface="Segoe UI"/>
                <a:cs typeface="Segoe UI"/>
              </a:rPr>
              <a:t>KPI Cards summarize overall </a:t>
            </a:r>
            <a:r>
              <a:rPr lang="en-US" sz="2000">
                <a:solidFill>
                  <a:srgbClr val="FFFFFF"/>
                </a:solidFill>
                <a:latin typeface="Calibri"/>
                <a:ea typeface="Segoe UI"/>
                <a:cs typeface="Segoe UI"/>
              </a:rPr>
              <a:t>business performance</a:t>
            </a:r>
            <a:r>
              <a:rPr lang="en-US" sz="2000" b="0" i="0" u="none" strike="noStrike" baseline="0">
                <a:solidFill>
                  <a:srgbClr val="FFFFFF"/>
                </a:solidFill>
                <a:latin typeface="Calibri"/>
                <a:ea typeface="Segoe UI"/>
                <a:cs typeface="Segoe UI"/>
              </a:rPr>
              <a:t>:</a:t>
            </a:r>
            <a:endParaRPr lang="en-US">
              <a:solidFill>
                <a:srgbClr val="FFFFFF"/>
              </a:solidFill>
              <a:latin typeface="Calibri"/>
              <a:ea typeface="Calibri"/>
              <a:cs typeface="Calibri"/>
            </a:endParaRPr>
          </a:p>
          <a:p>
            <a:r>
              <a:rPr sz="2000" b="0" i="0">
                <a:solidFill>
                  <a:srgbClr val="000000"/>
                </a:solidFill>
                <a:latin typeface="Calibri"/>
                <a:ea typeface="Calibri"/>
                <a:cs typeface="Calibri"/>
              </a:rPr>
              <a:t>​</a:t>
            </a:r>
            <a:r>
              <a:rPr lang="en-US" b="1">
                <a:ea typeface="+mn-lt"/>
                <a:cs typeface="+mn-lt"/>
              </a:rPr>
              <a:t>Total Customers – 5,000</a:t>
            </a:r>
            <a:br>
              <a:rPr lang="en-US" b="1">
                <a:ea typeface="+mn-lt"/>
                <a:cs typeface="+mn-lt"/>
              </a:rPr>
            </a:br>
            <a:r>
              <a:rPr lang="en-US" b="1">
                <a:ea typeface="+mn-lt"/>
                <a:cs typeface="+mn-lt"/>
              </a:rPr>
              <a:t> Shows the total number of customers in the insurance dataset. </a:t>
            </a:r>
            <a:endParaRPr lang="en-US">
              <a:ea typeface="+mn-lt"/>
              <a:cs typeface="+mn-lt"/>
            </a:endParaRPr>
          </a:p>
          <a:p>
            <a:pPr marL="285750" indent="-285750">
              <a:buFont typeface="Arial"/>
              <a:buChar char="•"/>
            </a:pPr>
            <a:r>
              <a:rPr lang="en-US" b="1">
                <a:ea typeface="+mn-lt"/>
                <a:cs typeface="+mn-lt"/>
              </a:rPr>
              <a:t>Total Policies – 5,000</a:t>
            </a:r>
            <a:br>
              <a:rPr lang="en-US" b="1">
                <a:ea typeface="+mn-lt"/>
                <a:cs typeface="+mn-lt"/>
              </a:rPr>
            </a:br>
            <a:r>
              <a:rPr lang="en-US" b="1">
                <a:ea typeface="+mn-lt"/>
                <a:cs typeface="+mn-lt"/>
              </a:rPr>
              <a:t> Represents the total number of insurance policies available in the dataset. </a:t>
            </a:r>
            <a:endParaRPr lang="en-US">
              <a:ea typeface="+mn-lt"/>
              <a:cs typeface="+mn-lt"/>
            </a:endParaRPr>
          </a:p>
          <a:p>
            <a:pPr marL="285750" indent="-285750">
              <a:buFont typeface="Arial"/>
              <a:buChar char="•"/>
            </a:pPr>
            <a:r>
              <a:rPr lang="en-US" b="1">
                <a:ea typeface="+mn-lt"/>
                <a:cs typeface="+mn-lt"/>
              </a:rPr>
              <a:t>Claim Amount – 251M</a:t>
            </a:r>
            <a:br>
              <a:rPr lang="en-US" b="1">
                <a:ea typeface="+mn-lt"/>
                <a:cs typeface="+mn-lt"/>
              </a:rPr>
            </a:br>
            <a:r>
              <a:rPr lang="en-US" b="1">
                <a:ea typeface="+mn-lt"/>
                <a:cs typeface="+mn-lt"/>
              </a:rPr>
              <a:t> Displays the total claim amount associated with the insurance policies. </a:t>
            </a:r>
            <a:endParaRPr lang="en-US">
              <a:ea typeface="+mn-lt"/>
              <a:cs typeface="+mn-lt"/>
            </a:endParaRPr>
          </a:p>
          <a:p>
            <a:pPr marL="285750" indent="-285750">
              <a:buFont typeface="Arial"/>
              <a:buChar char="•"/>
            </a:pPr>
            <a:r>
              <a:rPr lang="en-US" b="1">
                <a:ea typeface="+mn-lt"/>
                <a:cs typeface="+mn-lt"/>
              </a:rPr>
              <a:t>Average Coverage Amount – 254.56K</a:t>
            </a:r>
            <a:br>
              <a:rPr lang="en-US" b="1">
                <a:ea typeface="+mn-lt"/>
                <a:cs typeface="+mn-lt"/>
              </a:rPr>
            </a:br>
            <a:r>
              <a:rPr lang="en-US" b="1">
                <a:ea typeface="+mn-lt"/>
                <a:cs typeface="+mn-lt"/>
              </a:rPr>
              <a:t> Shows the average insurance coverage amount provided to customers. </a:t>
            </a:r>
            <a:endParaRPr lang="en-US">
              <a:ea typeface="+mn-lt"/>
              <a:cs typeface="+mn-lt"/>
            </a:endParaRPr>
          </a:p>
          <a:p>
            <a:pPr marL="285750" indent="-285750">
              <a:buFont typeface="Arial"/>
              <a:buChar char="•"/>
            </a:pPr>
            <a:r>
              <a:rPr lang="en-US" b="1">
                <a:ea typeface="+mn-lt"/>
                <a:cs typeface="+mn-lt"/>
              </a:rPr>
              <a:t>Average Premium Amount – 1.05K</a:t>
            </a:r>
            <a:br>
              <a:rPr lang="en-US" b="1">
                <a:ea typeface="+mn-lt"/>
                <a:cs typeface="+mn-lt"/>
              </a:rPr>
            </a:br>
            <a:r>
              <a:rPr lang="en-US" b="1">
                <a:ea typeface="+mn-lt"/>
                <a:cs typeface="+mn-lt"/>
              </a:rPr>
              <a:t> Represents the average premium amount paid by customers for their insurance policies.</a:t>
            </a:r>
            <a:endParaRPr lang="en-US">
              <a:ea typeface="Calibri"/>
              <a:cs typeface="Calibri"/>
            </a:endParaRPr>
          </a:p>
          <a:p>
            <a:pPr algn="ctr"/>
            <a:endParaRPr lang="en-US">
              <a:ea typeface="Calibri"/>
              <a:cs typeface="Calibri"/>
            </a:endParaRPr>
          </a:p>
        </p:txBody>
      </p:sp>
    </p:spTree>
    <p:extLst>
      <p:ext uri="{BB962C8B-B14F-4D97-AF65-F5344CB8AC3E}">
        <p14:creationId xmlns:p14="http://schemas.microsoft.com/office/powerpoint/2010/main" val="2297698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BB5E8-2780-196B-86AE-9BE31E1C92AD}"/>
              </a:ext>
            </a:extLst>
          </p:cNvPr>
          <p:cNvSpPr>
            <a:spLocks noGrp="1"/>
          </p:cNvSpPr>
          <p:nvPr>
            <p:ph type="title"/>
          </p:nvPr>
        </p:nvSpPr>
        <p:spPr/>
        <p:txBody>
          <a:bodyPr>
            <a:normAutofit/>
          </a:bodyPr>
          <a:lstStyle/>
          <a:p>
            <a:r>
              <a:rPr lang="en-IN" sz="4400" b="1">
                <a:solidFill>
                  <a:srgbClr val="FFC000"/>
                </a:solidFill>
                <a:ea typeface="+mj-lt"/>
                <a:cs typeface="+mj-lt"/>
              </a:rPr>
              <a:t>Policy Status &amp; Gender Filters</a:t>
            </a:r>
            <a:endParaRPr lang="en-US" sz="4400" b="1">
              <a:ea typeface="Calibri Light"/>
              <a:cs typeface="Calibri Light"/>
            </a:endParaRPr>
          </a:p>
          <a:p>
            <a:endParaRPr lang="en-US" sz="4400" b="1">
              <a:ea typeface="Calibri Light"/>
              <a:cs typeface="Calibri Light"/>
            </a:endParaRPr>
          </a:p>
        </p:txBody>
      </p:sp>
      <p:pic>
        <p:nvPicPr>
          <p:cNvPr id="4" name="Content Placeholder 3">
            <a:extLst>
              <a:ext uri="{FF2B5EF4-FFF2-40B4-BE49-F238E27FC236}">
                <a16:creationId xmlns:a16="http://schemas.microsoft.com/office/drawing/2014/main" id="{C014DE8A-5C23-0973-E25E-2F868652D1C4}"/>
              </a:ext>
            </a:extLst>
          </p:cNvPr>
          <p:cNvPicPr>
            <a:picLocks noGrp="1" noChangeAspect="1"/>
          </p:cNvPicPr>
          <p:nvPr>
            <p:ph idx="1"/>
          </p:nvPr>
        </p:nvPicPr>
        <p:blipFill>
          <a:blip r:embed="rId2"/>
          <a:stretch>
            <a:fillRect/>
          </a:stretch>
        </p:blipFill>
        <p:spPr>
          <a:xfrm>
            <a:off x="7348860" y="1194254"/>
            <a:ext cx="4693364" cy="5570538"/>
          </a:xfrm>
          <a:prstGeom prst="rect">
            <a:avLst/>
          </a:prstGeom>
        </p:spPr>
      </p:pic>
      <p:sp>
        <p:nvSpPr>
          <p:cNvPr id="5" name="TextBox 4">
            <a:extLst>
              <a:ext uri="{FF2B5EF4-FFF2-40B4-BE49-F238E27FC236}">
                <a16:creationId xmlns:a16="http://schemas.microsoft.com/office/drawing/2014/main" id="{A157395F-7221-8FC0-E239-08141C9E0564}"/>
              </a:ext>
            </a:extLst>
          </p:cNvPr>
          <p:cNvSpPr txBox="1"/>
          <p:nvPr/>
        </p:nvSpPr>
        <p:spPr>
          <a:xfrm>
            <a:off x="1023257" y="1186543"/>
            <a:ext cx="609600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This section of the </a:t>
            </a:r>
            <a:r>
              <a:rPr lang="en-US" b="1"/>
              <a:t>Insurance Policy Dashboard</a:t>
            </a:r>
            <a:r>
              <a:rPr lang="en-US"/>
              <a:t> provides interactive filters and visualizations to analyze policy status, gender, policy type, active/inactive policies, and premium growth.</a:t>
            </a:r>
            <a:endParaRPr lang="en-US">
              <a:ea typeface="+mn-lt"/>
              <a:cs typeface="+mn-lt"/>
            </a:endParaRPr>
          </a:p>
          <a:p>
            <a:pPr marL="342900" indent="-342900">
              <a:buAutoNum type="arabicPeriod"/>
            </a:pPr>
            <a:r>
              <a:rPr lang="en-US">
                <a:ea typeface="+mn-lt"/>
                <a:cs typeface="+mn-lt"/>
              </a:rPr>
              <a:t>Status Filter</a:t>
            </a:r>
            <a:endParaRPr lang="en-US">
              <a:ea typeface="Calibri"/>
              <a:cs typeface="Calibri"/>
            </a:endParaRPr>
          </a:p>
          <a:p>
            <a:r>
              <a:rPr lang="en-US">
                <a:ea typeface="+mn-lt"/>
                <a:cs typeface="+mn-lt"/>
              </a:rPr>
              <a:t>       Active</a:t>
            </a:r>
            <a:endParaRPr lang="en-US">
              <a:ea typeface="Calibri"/>
              <a:cs typeface="Calibri"/>
            </a:endParaRPr>
          </a:p>
          <a:p>
            <a:r>
              <a:rPr lang="en-US">
                <a:ea typeface="+mn-lt"/>
                <a:cs typeface="+mn-lt"/>
              </a:rPr>
              <a:t>       Lapsed</a:t>
            </a:r>
            <a:endParaRPr lang="en-US"/>
          </a:p>
          <a:p>
            <a:r>
              <a:rPr lang="en-US">
                <a:ea typeface="+mn-lt"/>
                <a:cs typeface="+mn-lt"/>
              </a:rPr>
              <a:t>       Terminated</a:t>
            </a:r>
          </a:p>
          <a:p>
            <a:r>
              <a:rPr lang="en-US">
                <a:ea typeface="+mn-lt"/>
                <a:cs typeface="+mn-lt"/>
              </a:rPr>
              <a:t>2.    Gender Filter</a:t>
            </a:r>
            <a:endParaRPr lang="en-US">
              <a:ea typeface="Calibri"/>
              <a:cs typeface="Calibri"/>
            </a:endParaRPr>
          </a:p>
          <a:p>
            <a:r>
              <a:rPr lang="en-US">
                <a:ea typeface="Calibri"/>
                <a:cs typeface="Calibri"/>
              </a:rPr>
              <a:t>       </a:t>
            </a:r>
            <a:r>
              <a:rPr lang="en-US">
                <a:ea typeface="+mn-lt"/>
                <a:cs typeface="+mn-lt"/>
              </a:rPr>
              <a:t>Female</a:t>
            </a:r>
            <a:endParaRPr lang="en-US">
              <a:ea typeface="Calibri"/>
              <a:cs typeface="Calibri"/>
            </a:endParaRPr>
          </a:p>
          <a:p>
            <a:r>
              <a:rPr lang="en-US">
                <a:ea typeface="Calibri"/>
                <a:cs typeface="Calibri"/>
              </a:rPr>
              <a:t>       Male</a:t>
            </a:r>
          </a:p>
          <a:p>
            <a:r>
              <a:rPr lang="en-US">
                <a:ea typeface="Calibri"/>
                <a:cs typeface="Calibri"/>
              </a:rPr>
              <a:t>       other</a:t>
            </a:r>
          </a:p>
          <a:p>
            <a:r>
              <a:rPr lang="en-US" b="1">
                <a:ea typeface="+mn-lt"/>
                <a:cs typeface="+mn-lt"/>
              </a:rPr>
              <a:t> Overall, the Status and Gender filters make the dashboard interactive and user-friendly. They help users perform focused analysis by selecting a specific policy status or customer gender.</a:t>
            </a:r>
            <a:endParaRPr lang="en-US">
              <a:ea typeface="Calibri"/>
              <a:cs typeface="Calibri"/>
            </a:endParaRPr>
          </a:p>
          <a:p>
            <a:pPr marL="342900" indent="-342900">
              <a:buAutoNum type="arabicPeriod"/>
            </a:pPr>
            <a:endParaRPr lang="en-US">
              <a:ea typeface="Calibri"/>
              <a:cs typeface="Calibri"/>
            </a:endParaRPr>
          </a:p>
          <a:p>
            <a:pPr algn="ctr"/>
            <a:endParaRPr lang="en-US">
              <a:ea typeface="Calibri"/>
              <a:cs typeface="Calibri"/>
            </a:endParaRPr>
          </a:p>
        </p:txBody>
      </p:sp>
    </p:spTree>
    <p:extLst>
      <p:ext uri="{BB962C8B-B14F-4D97-AF65-F5344CB8AC3E}">
        <p14:creationId xmlns:p14="http://schemas.microsoft.com/office/powerpoint/2010/main" val="2578449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D372C-B690-39A7-82AD-CD90823C571A}"/>
              </a:ext>
            </a:extLst>
          </p:cNvPr>
          <p:cNvSpPr>
            <a:spLocks noGrp="1"/>
          </p:cNvSpPr>
          <p:nvPr>
            <p:ph type="title"/>
          </p:nvPr>
        </p:nvSpPr>
        <p:spPr/>
        <p:txBody>
          <a:bodyPr>
            <a:normAutofit/>
          </a:bodyPr>
          <a:lstStyle/>
          <a:p>
            <a:r>
              <a:rPr lang="en-IN" sz="3600" b="1">
                <a:solidFill>
                  <a:srgbClr val="FFC000"/>
                </a:solidFill>
                <a:latin typeface="Aptos"/>
              </a:rPr>
              <a:t>Overall Insights, Recommendations &amp; Conclusion</a:t>
            </a:r>
            <a:endParaRPr lang="en-US" sz="3600">
              <a:solidFill>
                <a:srgbClr val="000000"/>
              </a:solidFill>
              <a:latin typeface="Aptos"/>
            </a:endParaRPr>
          </a:p>
          <a:p>
            <a:endParaRPr lang="en-US" sz="4400">
              <a:ea typeface="Calibri Light"/>
              <a:cs typeface="Calibri Light"/>
            </a:endParaRPr>
          </a:p>
        </p:txBody>
      </p:sp>
      <p:sp>
        <p:nvSpPr>
          <p:cNvPr id="3" name="Content Placeholder 2">
            <a:extLst>
              <a:ext uri="{FF2B5EF4-FFF2-40B4-BE49-F238E27FC236}">
                <a16:creationId xmlns:a16="http://schemas.microsoft.com/office/drawing/2014/main" id="{CF384E6F-045B-445D-8FC1-5E9B0988C116}"/>
              </a:ext>
            </a:extLst>
          </p:cNvPr>
          <p:cNvSpPr>
            <a:spLocks noGrp="1"/>
          </p:cNvSpPr>
          <p:nvPr>
            <p:ph idx="1"/>
          </p:nvPr>
        </p:nvSpPr>
        <p:spPr>
          <a:xfrm>
            <a:off x="838200" y="1680483"/>
            <a:ext cx="10515600" cy="4496480"/>
          </a:xfrm>
        </p:spPr>
        <p:txBody>
          <a:bodyPr vert="horz" lIns="91440" tIns="45720" rIns="91440" bIns="45720" rtlCol="0" anchor="t">
            <a:normAutofit/>
          </a:bodyPr>
          <a:lstStyle/>
          <a:p>
            <a:pPr marL="0" indent="0">
              <a:buNone/>
            </a:pPr>
            <a:r>
              <a:rPr lang="en-US" sz="2100" b="1">
                <a:ea typeface="Calibri"/>
                <a:cs typeface="Calibri"/>
              </a:rPr>
              <a:t> Key Insights:</a:t>
            </a:r>
            <a:endParaRPr lang="en-US" sz="2100">
              <a:solidFill>
                <a:srgbClr val="000000"/>
              </a:solidFill>
              <a:ea typeface="Calibri"/>
              <a:cs typeface="Calibri"/>
            </a:endParaRPr>
          </a:p>
          <a:p>
            <a:pPr marL="0" indent="0">
              <a:buNone/>
            </a:pPr>
            <a:r>
              <a:rPr lang="en-US" sz="1600">
                <a:solidFill>
                  <a:srgbClr val="FFFFFF"/>
                </a:solidFill>
                <a:ea typeface="+mn-lt"/>
                <a:cs typeface="+mn-lt"/>
              </a:rPr>
              <a:t>The dashboard provides a clear overview </a:t>
            </a:r>
          </a:p>
          <a:p>
            <a:pPr marL="0" indent="0">
              <a:buNone/>
            </a:pPr>
            <a:r>
              <a:rPr lang="en-US" sz="1600">
                <a:solidFill>
                  <a:srgbClr val="FFFFFF"/>
                </a:solidFill>
                <a:ea typeface="+mn-lt"/>
                <a:cs typeface="+mn-lt"/>
              </a:rPr>
              <a:t>of </a:t>
            </a:r>
            <a:r>
              <a:rPr lang="en-US" sz="1600" b="1">
                <a:solidFill>
                  <a:srgbClr val="FFFFFF"/>
                </a:solidFill>
                <a:ea typeface="+mn-lt"/>
                <a:cs typeface="+mn-lt"/>
              </a:rPr>
              <a:t>customer demographics, policy performance, </a:t>
            </a:r>
            <a:endParaRPr lang="en-US" sz="1600">
              <a:solidFill>
                <a:srgbClr val="FFFFFF"/>
              </a:solidFill>
              <a:ea typeface="+mn-lt"/>
              <a:cs typeface="+mn-lt"/>
            </a:endParaRPr>
          </a:p>
          <a:p>
            <a:pPr marL="0" indent="0">
              <a:buNone/>
            </a:pPr>
            <a:r>
              <a:rPr lang="en-US" sz="1600" b="1">
                <a:solidFill>
                  <a:srgbClr val="FFFFFF"/>
                </a:solidFill>
                <a:ea typeface="+mn-lt"/>
                <a:cs typeface="+mn-lt"/>
              </a:rPr>
              <a:t>claims, and premium trends</a:t>
            </a:r>
            <a:r>
              <a:rPr lang="en-US" sz="1600">
                <a:solidFill>
                  <a:srgbClr val="FFFFFF"/>
                </a:solidFill>
                <a:ea typeface="+mn-lt"/>
                <a:cs typeface="+mn-lt"/>
              </a:rPr>
              <a:t>. It highlights the </a:t>
            </a:r>
          </a:p>
          <a:p>
            <a:pPr marL="0" indent="0">
              <a:buNone/>
            </a:pPr>
            <a:r>
              <a:rPr lang="en-US" sz="1600" b="1">
                <a:solidFill>
                  <a:srgbClr val="FFFFFF"/>
                </a:solidFill>
                <a:ea typeface="+mn-lt"/>
                <a:cs typeface="+mn-lt"/>
              </a:rPr>
              <a:t>active and inactive policies, popular policy types,</a:t>
            </a:r>
            <a:endParaRPr lang="en-US" sz="1600">
              <a:solidFill>
                <a:srgbClr val="FFFFFF"/>
              </a:solidFill>
              <a:ea typeface="+mn-lt"/>
              <a:cs typeface="+mn-lt"/>
            </a:endParaRPr>
          </a:p>
          <a:p>
            <a:pPr marL="0" indent="0">
              <a:buNone/>
            </a:pPr>
            <a:r>
              <a:rPr lang="en-US" sz="1600" b="1">
                <a:solidFill>
                  <a:srgbClr val="FFFFFF"/>
                </a:solidFill>
                <a:ea typeface="+mn-lt"/>
                <a:cs typeface="+mn-lt"/>
              </a:rPr>
              <a:t> and yearly premium growth</a:t>
            </a:r>
            <a:r>
              <a:rPr lang="en-US" sz="1600">
                <a:solidFill>
                  <a:srgbClr val="FFFFFF"/>
                </a:solidFill>
                <a:ea typeface="+mn-lt"/>
                <a:cs typeface="+mn-lt"/>
              </a:rPr>
              <a:t>, helping management </a:t>
            </a:r>
          </a:p>
          <a:p>
            <a:pPr marL="0" indent="0">
              <a:buNone/>
            </a:pPr>
            <a:r>
              <a:rPr lang="en-US" sz="1600">
                <a:solidFill>
                  <a:srgbClr val="FFFFFF"/>
                </a:solidFill>
                <a:ea typeface="+mn-lt"/>
                <a:cs typeface="+mn-lt"/>
              </a:rPr>
              <a:t>make better business decisions.</a:t>
            </a:r>
            <a:endParaRPr lang="en-US" sz="1600">
              <a:ea typeface="Calibri"/>
              <a:cs typeface="Calibri"/>
            </a:endParaRPr>
          </a:p>
        </p:txBody>
      </p:sp>
      <p:sp>
        <p:nvSpPr>
          <p:cNvPr id="4" name="TextBox 3">
            <a:extLst>
              <a:ext uri="{FF2B5EF4-FFF2-40B4-BE49-F238E27FC236}">
                <a16:creationId xmlns:a16="http://schemas.microsoft.com/office/drawing/2014/main" id="{FD463AE8-D13A-3591-BF04-28F726900292}"/>
              </a:ext>
            </a:extLst>
          </p:cNvPr>
          <p:cNvSpPr txBox="1"/>
          <p:nvPr/>
        </p:nvSpPr>
        <p:spPr>
          <a:xfrm>
            <a:off x="5087257" y="1687286"/>
            <a:ext cx="3722916"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800" b="1" i="0" u="none" strike="noStrike" baseline="0">
                <a:solidFill>
                  <a:srgbClr val="FFFFFF"/>
                </a:solidFill>
                <a:latin typeface="Calibri"/>
                <a:ea typeface="Arial"/>
                <a:cs typeface="Arial"/>
              </a:rPr>
              <a:t>Recommendations:</a:t>
            </a:r>
            <a:r>
              <a:rPr lang="en-US" sz="1800" b="0" i="0">
                <a:solidFill>
                  <a:srgbClr val="FFFFFF"/>
                </a:solidFill>
                <a:latin typeface="Calibri"/>
                <a:ea typeface="Arial"/>
                <a:cs typeface="Arial"/>
              </a:rPr>
              <a:t>​</a:t>
            </a:r>
          </a:p>
          <a:p>
            <a:pPr algn="l" rtl="0"/>
            <a:r>
              <a:rPr lang="en-US" sz="1800" b="0" i="0">
                <a:solidFill>
                  <a:srgbClr val="FFFFFF"/>
                </a:solidFill>
                <a:latin typeface="Calibri"/>
                <a:ea typeface="Arial"/>
                <a:cs typeface="Arial"/>
              </a:rPr>
              <a:t>​</a:t>
            </a:r>
          </a:p>
          <a:p>
            <a:pPr marL="285750" indent="-285750">
              <a:buFont typeface="Arial,Sans-Serif"/>
              <a:buChar char="•"/>
            </a:pPr>
            <a:r>
              <a:rPr lang="en-US" sz="1600" b="0" i="0" u="none" strike="noStrike" baseline="0">
                <a:solidFill>
                  <a:srgbClr val="FFFFFF"/>
                </a:solidFill>
                <a:latin typeface="Calibri"/>
                <a:ea typeface="Arial"/>
                <a:cs typeface="Arial"/>
              </a:rPr>
              <a:t>Promote Auto and </a:t>
            </a:r>
            <a:r>
              <a:rPr lang="en-US" sz="1600">
                <a:solidFill>
                  <a:srgbClr val="FFFFFF"/>
                </a:solidFill>
                <a:latin typeface="Calibri"/>
                <a:ea typeface="Arial"/>
                <a:cs typeface="Arial"/>
              </a:rPr>
              <a:t>Life Insurance</a:t>
            </a:r>
            <a:r>
              <a:rPr lang="en-US" sz="1600" b="0" i="0" u="none" strike="noStrike" baseline="0">
                <a:solidFill>
                  <a:srgbClr val="FFFFFF"/>
                </a:solidFill>
                <a:latin typeface="Calibri"/>
                <a:ea typeface="Arial"/>
                <a:cs typeface="Arial"/>
              </a:rPr>
              <a:t> through </a:t>
            </a:r>
            <a:r>
              <a:rPr lang="en-US" sz="1600">
                <a:solidFill>
                  <a:srgbClr val="FFFFFF"/>
                </a:solidFill>
                <a:latin typeface="Calibri"/>
                <a:ea typeface="Arial"/>
                <a:cs typeface="Arial"/>
              </a:rPr>
              <a:t>targeted marketing</a:t>
            </a:r>
            <a:r>
              <a:rPr lang="en-US" sz="1600" b="0" i="0" u="none" strike="noStrike" baseline="0">
                <a:solidFill>
                  <a:srgbClr val="FFFFFF"/>
                </a:solidFill>
                <a:latin typeface="Calibri"/>
                <a:ea typeface="Arial"/>
                <a:cs typeface="Arial"/>
              </a:rPr>
              <a:t>.</a:t>
            </a:r>
            <a:r>
              <a:rPr lang="en-US" sz="1600" b="0" i="0">
                <a:solidFill>
                  <a:srgbClr val="FFFFFF"/>
                </a:solidFill>
                <a:latin typeface="Calibri"/>
                <a:ea typeface="Arial"/>
                <a:cs typeface="Arial"/>
              </a:rPr>
              <a:t>​</a:t>
            </a:r>
          </a:p>
          <a:p>
            <a:pPr marL="285750" indent="-285750">
              <a:buFont typeface="Arial,Sans-Serif"/>
              <a:buChar char="•"/>
            </a:pPr>
            <a:r>
              <a:rPr lang="en-US" sz="1600" b="0" i="0" u="none" strike="noStrike" baseline="0">
                <a:solidFill>
                  <a:srgbClr val="FFFFFF"/>
                </a:solidFill>
                <a:latin typeface="Calibri"/>
                <a:ea typeface="Arial"/>
                <a:cs typeface="Arial"/>
              </a:rPr>
              <a:t>Encourage digital </a:t>
            </a:r>
            <a:r>
              <a:rPr lang="en-US" sz="1600">
                <a:solidFill>
                  <a:srgbClr val="FFFFFF"/>
                </a:solidFill>
                <a:latin typeface="Calibri"/>
                <a:ea typeface="Arial"/>
                <a:cs typeface="Arial"/>
              </a:rPr>
              <a:t>payments and</a:t>
            </a:r>
            <a:r>
              <a:rPr lang="en-US" sz="1600" b="0" i="0" u="none" strike="noStrike" baseline="0">
                <a:solidFill>
                  <a:srgbClr val="FFFFFF"/>
                </a:solidFill>
                <a:latin typeface="Calibri"/>
                <a:ea typeface="Arial"/>
                <a:cs typeface="Arial"/>
              </a:rPr>
              <a:t> improve </a:t>
            </a:r>
            <a:r>
              <a:rPr lang="en-US" sz="1600">
                <a:solidFill>
                  <a:srgbClr val="FFFFFF"/>
                </a:solidFill>
                <a:latin typeface="Calibri"/>
                <a:ea typeface="Arial"/>
                <a:cs typeface="Arial"/>
              </a:rPr>
              <a:t>failed transaction</a:t>
            </a:r>
            <a:r>
              <a:rPr lang="en-US" sz="1600" b="0" i="0" u="none" strike="noStrike" baseline="0">
                <a:solidFill>
                  <a:srgbClr val="FFFFFF"/>
                </a:solidFill>
                <a:latin typeface="Calibri"/>
                <a:ea typeface="Arial"/>
                <a:cs typeface="Arial"/>
              </a:rPr>
              <a:t> handling.</a:t>
            </a:r>
            <a:r>
              <a:rPr lang="en-US" sz="1600" b="0" i="0">
                <a:solidFill>
                  <a:srgbClr val="FFFFFF"/>
                </a:solidFill>
                <a:latin typeface="Calibri"/>
                <a:ea typeface="Arial"/>
                <a:cs typeface="Arial"/>
              </a:rPr>
              <a:t>​</a:t>
            </a:r>
          </a:p>
          <a:p>
            <a:pPr marL="285750" indent="-285750">
              <a:buFont typeface="Arial,Sans-Serif"/>
              <a:buChar char="•"/>
            </a:pPr>
            <a:r>
              <a:rPr lang="en-US" sz="1600" b="0" i="0" u="none" strike="noStrike" baseline="0">
                <a:solidFill>
                  <a:srgbClr val="FFFFFF"/>
                </a:solidFill>
                <a:latin typeface="Calibri"/>
                <a:ea typeface="Arial"/>
                <a:cs typeface="Arial"/>
              </a:rPr>
              <a:t>Add KPIs such as </a:t>
            </a:r>
            <a:r>
              <a:rPr lang="en-US" sz="1600">
                <a:solidFill>
                  <a:srgbClr val="FFFFFF"/>
                </a:solidFill>
                <a:latin typeface="Calibri"/>
                <a:ea typeface="Arial"/>
                <a:cs typeface="Arial"/>
              </a:rPr>
              <a:t>Claim Settlement</a:t>
            </a:r>
            <a:r>
              <a:rPr lang="en-US" sz="1600" b="0" i="0" u="none" strike="noStrike" baseline="0">
                <a:solidFill>
                  <a:srgbClr val="FFFFFF"/>
                </a:solidFill>
                <a:latin typeface="Calibri"/>
                <a:ea typeface="Arial"/>
                <a:cs typeface="Arial"/>
              </a:rPr>
              <a:t> Ratio, </a:t>
            </a:r>
            <a:r>
              <a:rPr lang="en-US" sz="1600">
                <a:solidFill>
                  <a:srgbClr val="FFFFFF"/>
                </a:solidFill>
                <a:latin typeface="Calibri"/>
                <a:ea typeface="Arial"/>
                <a:cs typeface="Arial"/>
              </a:rPr>
              <a:t>Renewal Rate</a:t>
            </a:r>
            <a:r>
              <a:rPr lang="en-US" sz="1600" b="0" i="0" u="none" strike="noStrike" baseline="0">
                <a:solidFill>
                  <a:srgbClr val="FFFFFF"/>
                </a:solidFill>
                <a:latin typeface="Calibri"/>
                <a:ea typeface="Arial"/>
                <a:cs typeface="Arial"/>
              </a:rPr>
              <a:t>, Agent Performance </a:t>
            </a:r>
            <a:r>
              <a:rPr lang="en-US" sz="1600">
                <a:solidFill>
                  <a:srgbClr val="FFFFFF"/>
                </a:solidFill>
                <a:latin typeface="Calibri"/>
                <a:ea typeface="Arial"/>
                <a:cs typeface="Arial"/>
              </a:rPr>
              <a:t>and Regional</a:t>
            </a:r>
            <a:r>
              <a:rPr lang="en-US" sz="1600" b="0" i="0" u="none" strike="noStrike" baseline="0">
                <a:solidFill>
                  <a:srgbClr val="FFFFFF"/>
                </a:solidFill>
                <a:latin typeface="Calibri"/>
                <a:ea typeface="Arial"/>
                <a:cs typeface="Arial"/>
              </a:rPr>
              <a:t> Analysis.</a:t>
            </a:r>
            <a:r>
              <a:rPr lang="en-US" sz="1600" b="0" i="0">
                <a:solidFill>
                  <a:srgbClr val="FFFFFF"/>
                </a:solidFill>
                <a:latin typeface="Calibri"/>
                <a:ea typeface="Arial"/>
                <a:cs typeface="Arial"/>
              </a:rPr>
              <a:t>​</a:t>
            </a:r>
          </a:p>
          <a:p>
            <a:pPr algn="ctr"/>
            <a:endParaRPr lang="en-US" sz="1600">
              <a:ea typeface="Calibri"/>
              <a:cs typeface="Calibri"/>
            </a:endParaRPr>
          </a:p>
        </p:txBody>
      </p:sp>
      <p:sp>
        <p:nvSpPr>
          <p:cNvPr id="5" name="TextBox 4">
            <a:extLst>
              <a:ext uri="{FF2B5EF4-FFF2-40B4-BE49-F238E27FC236}">
                <a16:creationId xmlns:a16="http://schemas.microsoft.com/office/drawing/2014/main" id="{8D64752D-CD28-A0BB-8DC8-95E590AFBF2D}"/>
              </a:ext>
            </a:extLst>
          </p:cNvPr>
          <p:cNvSpPr txBox="1"/>
          <p:nvPr/>
        </p:nvSpPr>
        <p:spPr>
          <a:xfrm>
            <a:off x="8643257" y="1687285"/>
            <a:ext cx="3055258"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800" b="1" i="0" u="none" strike="noStrike" baseline="0">
                <a:solidFill>
                  <a:srgbClr val="FFFFFF"/>
                </a:solidFill>
                <a:latin typeface="Calibri"/>
                <a:ea typeface="Arial"/>
                <a:cs typeface="Arial"/>
              </a:rPr>
              <a:t>Conclusion: </a:t>
            </a:r>
            <a:r>
              <a:rPr lang="en-US" sz="1800" b="0" i="0">
                <a:solidFill>
                  <a:srgbClr val="FFFFFF"/>
                </a:solidFill>
                <a:latin typeface="Calibri"/>
                <a:ea typeface="Arial"/>
                <a:cs typeface="Arial"/>
              </a:rPr>
              <a:t>​</a:t>
            </a:r>
          </a:p>
          <a:p>
            <a:pPr algn="l" rtl="0"/>
            <a:r>
              <a:rPr lang="en-US" sz="1800" b="0" i="0">
                <a:solidFill>
                  <a:srgbClr val="FFFFFF"/>
                </a:solidFill>
                <a:latin typeface="Calibri"/>
                <a:ea typeface="Arial"/>
                <a:cs typeface="Arial"/>
              </a:rPr>
              <a:t>​</a:t>
            </a:r>
          </a:p>
          <a:p>
            <a:r>
              <a:rPr lang="en-US" sz="1600">
                <a:solidFill>
                  <a:srgbClr val="FFFFFF"/>
                </a:solidFill>
                <a:latin typeface="Calibri"/>
                <a:ea typeface="Arial"/>
                <a:cs typeface="Arial"/>
              </a:rPr>
              <a:t> </a:t>
            </a:r>
            <a:r>
              <a:rPr lang="en-US" sz="1600" b="0" i="0" u="none" strike="noStrike" baseline="0">
                <a:solidFill>
                  <a:srgbClr val="FFFFFF"/>
                </a:solidFill>
                <a:latin typeface="Calibri"/>
                <a:ea typeface="Arial"/>
                <a:cs typeface="Arial"/>
              </a:rPr>
              <a:t>The dashboard </a:t>
            </a:r>
            <a:r>
              <a:rPr lang="en-US" sz="1600">
                <a:solidFill>
                  <a:srgbClr val="FFFFFF"/>
                </a:solidFill>
                <a:latin typeface="Calibri"/>
                <a:ea typeface="Arial"/>
                <a:cs typeface="Arial"/>
              </a:rPr>
              <a:t>provide actionable</a:t>
            </a:r>
            <a:r>
              <a:rPr lang="en-US" sz="1600" b="0" i="0" u="none" strike="noStrike" baseline="0">
                <a:solidFill>
                  <a:srgbClr val="FFFFFF"/>
                </a:solidFill>
                <a:latin typeface="Calibri"/>
                <a:ea typeface="Arial"/>
                <a:cs typeface="Arial"/>
              </a:rPr>
              <a:t> insights that </a:t>
            </a:r>
            <a:r>
              <a:rPr lang="en-US" sz="1600">
                <a:solidFill>
                  <a:srgbClr val="FFFFFF"/>
                </a:solidFill>
                <a:latin typeface="Calibri"/>
                <a:ea typeface="Arial"/>
                <a:cs typeface="Arial"/>
              </a:rPr>
              <a:t>help management</a:t>
            </a:r>
            <a:r>
              <a:rPr lang="en-US" sz="1600" b="0" i="0" u="none" strike="noStrike" baseline="0">
                <a:solidFill>
                  <a:srgbClr val="FFFFFF"/>
                </a:solidFill>
                <a:latin typeface="Calibri"/>
                <a:ea typeface="Arial"/>
                <a:cs typeface="Arial"/>
              </a:rPr>
              <a:t> </a:t>
            </a:r>
            <a:r>
              <a:rPr lang="en-US" sz="1600">
                <a:solidFill>
                  <a:srgbClr val="FFFFFF"/>
                </a:solidFill>
                <a:latin typeface="Calibri"/>
                <a:ea typeface="Arial"/>
                <a:cs typeface="Arial"/>
              </a:rPr>
              <a:t>improve profitability</a:t>
            </a:r>
            <a:r>
              <a:rPr lang="en-US" sz="1600" b="0" i="0" u="none" strike="noStrike" baseline="0">
                <a:solidFill>
                  <a:srgbClr val="FFFFFF"/>
                </a:solidFill>
                <a:latin typeface="Calibri"/>
                <a:ea typeface="Arial"/>
                <a:cs typeface="Arial"/>
              </a:rPr>
              <a:t>, customer </a:t>
            </a:r>
            <a:r>
              <a:rPr lang="en-US" sz="1600">
                <a:solidFill>
                  <a:srgbClr val="FFFFFF"/>
                </a:solidFill>
                <a:latin typeface="Calibri"/>
                <a:ea typeface="Arial"/>
                <a:cs typeface="Arial"/>
              </a:rPr>
              <a:t>retention and</a:t>
            </a:r>
            <a:r>
              <a:rPr lang="en-US" sz="1600" b="0" i="0" u="none" strike="noStrike" baseline="0">
                <a:solidFill>
                  <a:srgbClr val="FFFFFF"/>
                </a:solidFill>
                <a:latin typeface="Calibri"/>
                <a:ea typeface="Arial"/>
                <a:cs typeface="Arial"/>
              </a:rPr>
              <a:t> operational decision-making.</a:t>
            </a:r>
            <a:r>
              <a:rPr lang="en-US" sz="1600" b="0" i="0">
                <a:solidFill>
                  <a:srgbClr val="FFFFFF"/>
                </a:solidFill>
                <a:latin typeface="Calibri"/>
                <a:ea typeface="Arial"/>
                <a:cs typeface="Arial"/>
              </a:rPr>
              <a:t>​</a:t>
            </a:r>
          </a:p>
          <a:p>
            <a:pPr algn="ctr"/>
            <a:endParaRPr lang="en-US" sz="1600">
              <a:ea typeface="Calibri"/>
              <a:cs typeface="Calibri"/>
            </a:endParaRPr>
          </a:p>
        </p:txBody>
      </p:sp>
    </p:spTree>
    <p:extLst>
      <p:ext uri="{BB962C8B-B14F-4D97-AF65-F5344CB8AC3E}">
        <p14:creationId xmlns:p14="http://schemas.microsoft.com/office/powerpoint/2010/main" val="3190476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E5912-DCF2-28AE-5B95-83FFDF2748BE}"/>
              </a:ext>
            </a:extLst>
          </p:cNvPr>
          <p:cNvSpPr>
            <a:spLocks noGrp="1"/>
          </p:cNvSpPr>
          <p:nvPr>
            <p:ph type="title"/>
          </p:nvPr>
        </p:nvSpPr>
        <p:spPr>
          <a:xfrm>
            <a:off x="707571" y="2269"/>
            <a:ext cx="10515600" cy="904649"/>
          </a:xfrm>
        </p:spPr>
        <p:txBody>
          <a:bodyPr/>
          <a:lstStyle/>
          <a:p>
            <a:pPr algn="ctr"/>
            <a:r>
              <a:rPr lang="en-IN" sz="4400" b="1">
                <a:solidFill>
                  <a:schemeClr val="accent4"/>
                </a:solidFill>
                <a:latin typeface="Aptos"/>
                <a:ea typeface="Calibri Light"/>
                <a:cs typeface="Calibri Light"/>
              </a:rPr>
              <a:t>SQL Queries</a:t>
            </a:r>
            <a:endParaRPr lang="en-US">
              <a:solidFill>
                <a:schemeClr val="accent4"/>
              </a:solidFill>
              <a:ea typeface="Calibri Light" panose="020F0302020204030204"/>
              <a:cs typeface="Calibri Light" panose="020F0302020204030204"/>
            </a:endParaRPr>
          </a:p>
        </p:txBody>
      </p:sp>
      <p:pic>
        <p:nvPicPr>
          <p:cNvPr id="4" name="Content Placeholder 3">
            <a:extLst>
              <a:ext uri="{FF2B5EF4-FFF2-40B4-BE49-F238E27FC236}">
                <a16:creationId xmlns:a16="http://schemas.microsoft.com/office/drawing/2014/main" id="{FB8D651F-4A4A-9983-AA64-00CBDE5A33C3}"/>
              </a:ext>
            </a:extLst>
          </p:cNvPr>
          <p:cNvPicPr>
            <a:picLocks noGrp="1" noChangeAspect="1"/>
          </p:cNvPicPr>
          <p:nvPr>
            <p:ph idx="1"/>
          </p:nvPr>
        </p:nvPicPr>
        <p:blipFill>
          <a:blip r:embed="rId2"/>
          <a:stretch>
            <a:fillRect/>
          </a:stretch>
        </p:blipFill>
        <p:spPr>
          <a:xfrm>
            <a:off x="384209" y="643695"/>
            <a:ext cx="3498669" cy="2194621"/>
          </a:xfrm>
          <a:prstGeom prst="rect">
            <a:avLst/>
          </a:prstGeom>
        </p:spPr>
      </p:pic>
      <p:pic>
        <p:nvPicPr>
          <p:cNvPr id="6" name="Picture 5">
            <a:extLst>
              <a:ext uri="{FF2B5EF4-FFF2-40B4-BE49-F238E27FC236}">
                <a16:creationId xmlns:a16="http://schemas.microsoft.com/office/drawing/2014/main" id="{02476BBF-2C95-2830-3F2A-BA71C96411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0083" y="2948801"/>
            <a:ext cx="3675950" cy="1953299"/>
          </a:xfrm>
          <a:prstGeom prst="rect">
            <a:avLst/>
          </a:prstGeom>
        </p:spPr>
      </p:pic>
      <p:pic>
        <p:nvPicPr>
          <p:cNvPr id="8" name="Picture 7">
            <a:extLst>
              <a:ext uri="{FF2B5EF4-FFF2-40B4-BE49-F238E27FC236}">
                <a16:creationId xmlns:a16="http://schemas.microsoft.com/office/drawing/2014/main" id="{8723052D-3B6F-D88A-A130-4393835DCF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024" y="5012585"/>
            <a:ext cx="4218784" cy="1659299"/>
          </a:xfrm>
          <a:prstGeom prst="rect">
            <a:avLst/>
          </a:prstGeom>
        </p:spPr>
      </p:pic>
      <p:pic>
        <p:nvPicPr>
          <p:cNvPr id="10" name="Picture 9">
            <a:extLst>
              <a:ext uri="{FF2B5EF4-FFF2-40B4-BE49-F238E27FC236}">
                <a16:creationId xmlns:a16="http://schemas.microsoft.com/office/drawing/2014/main" id="{91B894F8-7AC9-9F12-6501-2C4258B718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8753" y="789936"/>
            <a:ext cx="4157780" cy="1516134"/>
          </a:xfrm>
          <a:prstGeom prst="rect">
            <a:avLst/>
          </a:prstGeom>
        </p:spPr>
      </p:pic>
      <p:pic>
        <p:nvPicPr>
          <p:cNvPr id="12" name="Picture 11">
            <a:extLst>
              <a:ext uri="{FF2B5EF4-FFF2-40B4-BE49-F238E27FC236}">
                <a16:creationId xmlns:a16="http://schemas.microsoft.com/office/drawing/2014/main" id="{26A6722F-D176-5795-7824-575930EA9F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2501773"/>
            <a:ext cx="4379796" cy="1778154"/>
          </a:xfrm>
          <a:prstGeom prst="rect">
            <a:avLst/>
          </a:prstGeom>
        </p:spPr>
      </p:pic>
      <p:pic>
        <p:nvPicPr>
          <p:cNvPr id="16" name="Picture 15">
            <a:extLst>
              <a:ext uri="{FF2B5EF4-FFF2-40B4-BE49-F238E27FC236}">
                <a16:creationId xmlns:a16="http://schemas.microsoft.com/office/drawing/2014/main" id="{447EFDA3-1205-E909-C36C-D4000FE702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06120" y="4423761"/>
            <a:ext cx="4140413" cy="2292468"/>
          </a:xfrm>
          <a:prstGeom prst="rect">
            <a:avLst/>
          </a:prstGeom>
        </p:spPr>
      </p:pic>
    </p:spTree>
    <p:extLst>
      <p:ext uri="{BB962C8B-B14F-4D97-AF65-F5344CB8AC3E}">
        <p14:creationId xmlns:p14="http://schemas.microsoft.com/office/powerpoint/2010/main" val="1002982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6173DB-AFF0-4CC9-D244-EB51FFBD08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336" y="187158"/>
            <a:ext cx="4490490" cy="2129322"/>
          </a:xfrm>
          <a:prstGeom prst="rect">
            <a:avLst/>
          </a:prstGeom>
        </p:spPr>
      </p:pic>
      <p:pic>
        <p:nvPicPr>
          <p:cNvPr id="7" name="Picture 6">
            <a:extLst>
              <a:ext uri="{FF2B5EF4-FFF2-40B4-BE49-F238E27FC236}">
                <a16:creationId xmlns:a16="http://schemas.microsoft.com/office/drawing/2014/main" id="{EE1B0E53-8E9B-B39C-E92A-6EB5926B4246}"/>
              </a:ext>
            </a:extLst>
          </p:cNvPr>
          <p:cNvPicPr>
            <a:picLocks noChangeAspect="1"/>
          </p:cNvPicPr>
          <p:nvPr/>
        </p:nvPicPr>
        <p:blipFill>
          <a:blip r:embed="rId3"/>
          <a:stretch>
            <a:fillRect/>
          </a:stretch>
        </p:blipFill>
        <p:spPr>
          <a:xfrm>
            <a:off x="1900576" y="2488113"/>
            <a:ext cx="4267419" cy="1987652"/>
          </a:xfrm>
          <a:prstGeom prst="rect">
            <a:avLst/>
          </a:prstGeom>
        </p:spPr>
      </p:pic>
      <p:pic>
        <p:nvPicPr>
          <p:cNvPr id="9" name="Picture 8">
            <a:extLst>
              <a:ext uri="{FF2B5EF4-FFF2-40B4-BE49-F238E27FC236}">
                <a16:creationId xmlns:a16="http://schemas.microsoft.com/office/drawing/2014/main" id="{F2123F8D-F1CB-3E34-1EDA-4E7F57E9678B}"/>
              </a:ext>
            </a:extLst>
          </p:cNvPr>
          <p:cNvPicPr>
            <a:picLocks noChangeAspect="1"/>
          </p:cNvPicPr>
          <p:nvPr/>
        </p:nvPicPr>
        <p:blipFill>
          <a:blip r:embed="rId4"/>
          <a:stretch>
            <a:fillRect/>
          </a:stretch>
        </p:blipFill>
        <p:spPr>
          <a:xfrm>
            <a:off x="234336" y="4647398"/>
            <a:ext cx="7283824" cy="2133710"/>
          </a:xfrm>
          <a:prstGeom prst="rect">
            <a:avLst/>
          </a:prstGeom>
        </p:spPr>
      </p:pic>
      <p:pic>
        <p:nvPicPr>
          <p:cNvPr id="11" name="Picture 10">
            <a:extLst>
              <a:ext uri="{FF2B5EF4-FFF2-40B4-BE49-F238E27FC236}">
                <a16:creationId xmlns:a16="http://schemas.microsoft.com/office/drawing/2014/main" id="{A3DBEC09-3949-E299-91C4-8CAC9430049E}"/>
              </a:ext>
            </a:extLst>
          </p:cNvPr>
          <p:cNvPicPr>
            <a:picLocks noChangeAspect="1"/>
          </p:cNvPicPr>
          <p:nvPr/>
        </p:nvPicPr>
        <p:blipFill>
          <a:blip r:embed="rId5"/>
          <a:stretch>
            <a:fillRect/>
          </a:stretch>
        </p:blipFill>
        <p:spPr>
          <a:xfrm>
            <a:off x="7010418" y="187158"/>
            <a:ext cx="4674971" cy="3445390"/>
          </a:xfrm>
          <a:prstGeom prst="rect">
            <a:avLst/>
          </a:prstGeom>
        </p:spPr>
      </p:pic>
      <p:pic>
        <p:nvPicPr>
          <p:cNvPr id="13" name="Picture 12">
            <a:extLst>
              <a:ext uri="{FF2B5EF4-FFF2-40B4-BE49-F238E27FC236}">
                <a16:creationId xmlns:a16="http://schemas.microsoft.com/office/drawing/2014/main" id="{83257DB3-C5EC-1F2F-6261-DA0DC004FA3F}"/>
              </a:ext>
            </a:extLst>
          </p:cNvPr>
          <p:cNvPicPr>
            <a:picLocks noChangeAspect="1"/>
          </p:cNvPicPr>
          <p:nvPr/>
        </p:nvPicPr>
        <p:blipFill>
          <a:blip r:embed="rId6"/>
          <a:stretch>
            <a:fillRect/>
          </a:stretch>
        </p:blipFill>
        <p:spPr>
          <a:xfrm>
            <a:off x="9596628" y="3734148"/>
            <a:ext cx="2160320" cy="1080160"/>
          </a:xfrm>
          <a:prstGeom prst="rect">
            <a:avLst/>
          </a:prstGeom>
        </p:spPr>
      </p:pic>
    </p:spTree>
    <p:extLst>
      <p:ext uri="{BB962C8B-B14F-4D97-AF65-F5344CB8AC3E}">
        <p14:creationId xmlns:p14="http://schemas.microsoft.com/office/powerpoint/2010/main" val="1094416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37C854-715A-4563-AA06-D3FA9A7B5EC1}"/>
              </a:ext>
            </a:extLst>
          </p:cNvPr>
          <p:cNvPicPr>
            <a:picLocks noChangeAspect="1"/>
          </p:cNvPicPr>
          <p:nvPr/>
        </p:nvPicPr>
        <p:blipFill>
          <a:blip r:embed="rId2"/>
          <a:stretch>
            <a:fillRect/>
          </a:stretch>
        </p:blipFill>
        <p:spPr>
          <a:xfrm>
            <a:off x="113554" y="119297"/>
            <a:ext cx="4324572" cy="3225966"/>
          </a:xfrm>
          <a:prstGeom prst="rect">
            <a:avLst/>
          </a:prstGeom>
        </p:spPr>
      </p:pic>
      <p:pic>
        <p:nvPicPr>
          <p:cNvPr id="5" name="Picture 4">
            <a:extLst>
              <a:ext uri="{FF2B5EF4-FFF2-40B4-BE49-F238E27FC236}">
                <a16:creationId xmlns:a16="http://schemas.microsoft.com/office/drawing/2014/main" id="{1E9861D0-4DEB-5EE2-8058-A9B1D8BD73AC}"/>
              </a:ext>
            </a:extLst>
          </p:cNvPr>
          <p:cNvPicPr>
            <a:picLocks noChangeAspect="1"/>
          </p:cNvPicPr>
          <p:nvPr/>
        </p:nvPicPr>
        <p:blipFill>
          <a:blip r:embed="rId3"/>
          <a:stretch>
            <a:fillRect/>
          </a:stretch>
        </p:blipFill>
        <p:spPr>
          <a:xfrm>
            <a:off x="2420167" y="3203023"/>
            <a:ext cx="2385806" cy="1141821"/>
          </a:xfrm>
          <a:prstGeom prst="rect">
            <a:avLst/>
          </a:prstGeom>
        </p:spPr>
      </p:pic>
      <p:pic>
        <p:nvPicPr>
          <p:cNvPr id="7" name="Picture 6">
            <a:extLst>
              <a:ext uri="{FF2B5EF4-FFF2-40B4-BE49-F238E27FC236}">
                <a16:creationId xmlns:a16="http://schemas.microsoft.com/office/drawing/2014/main" id="{A15079AC-B447-00D3-456B-F463EAFF30BE}"/>
              </a:ext>
            </a:extLst>
          </p:cNvPr>
          <p:cNvPicPr>
            <a:picLocks noChangeAspect="1"/>
          </p:cNvPicPr>
          <p:nvPr/>
        </p:nvPicPr>
        <p:blipFill>
          <a:blip r:embed="rId4"/>
          <a:stretch>
            <a:fillRect/>
          </a:stretch>
        </p:blipFill>
        <p:spPr>
          <a:xfrm>
            <a:off x="113554" y="4452586"/>
            <a:ext cx="4667490" cy="2286117"/>
          </a:xfrm>
          <a:prstGeom prst="rect">
            <a:avLst/>
          </a:prstGeom>
        </p:spPr>
      </p:pic>
      <p:pic>
        <p:nvPicPr>
          <p:cNvPr id="9" name="Picture 8">
            <a:extLst>
              <a:ext uri="{FF2B5EF4-FFF2-40B4-BE49-F238E27FC236}">
                <a16:creationId xmlns:a16="http://schemas.microsoft.com/office/drawing/2014/main" id="{8713DDB1-0AEF-B694-57F4-DDBBA1CE4C35}"/>
              </a:ext>
            </a:extLst>
          </p:cNvPr>
          <p:cNvPicPr>
            <a:picLocks noChangeAspect="1"/>
          </p:cNvPicPr>
          <p:nvPr/>
        </p:nvPicPr>
        <p:blipFill>
          <a:blip r:embed="rId5"/>
          <a:stretch>
            <a:fillRect/>
          </a:stretch>
        </p:blipFill>
        <p:spPr>
          <a:xfrm>
            <a:off x="5173819" y="119297"/>
            <a:ext cx="6212706" cy="2251163"/>
          </a:xfrm>
          <a:prstGeom prst="rect">
            <a:avLst/>
          </a:prstGeom>
        </p:spPr>
      </p:pic>
      <p:pic>
        <p:nvPicPr>
          <p:cNvPr id="11" name="Picture 10">
            <a:extLst>
              <a:ext uri="{FF2B5EF4-FFF2-40B4-BE49-F238E27FC236}">
                <a16:creationId xmlns:a16="http://schemas.microsoft.com/office/drawing/2014/main" id="{C42A1481-5439-04C5-8259-85ED14CF57F1}"/>
              </a:ext>
            </a:extLst>
          </p:cNvPr>
          <p:cNvPicPr>
            <a:picLocks noChangeAspect="1"/>
          </p:cNvPicPr>
          <p:nvPr/>
        </p:nvPicPr>
        <p:blipFill>
          <a:blip r:embed="rId6"/>
          <a:stretch>
            <a:fillRect/>
          </a:stretch>
        </p:blipFill>
        <p:spPr>
          <a:xfrm>
            <a:off x="5393966" y="2442672"/>
            <a:ext cx="4153114" cy="2251163"/>
          </a:xfrm>
          <a:prstGeom prst="rect">
            <a:avLst/>
          </a:prstGeom>
        </p:spPr>
      </p:pic>
      <p:pic>
        <p:nvPicPr>
          <p:cNvPr id="13" name="Picture 12">
            <a:extLst>
              <a:ext uri="{FF2B5EF4-FFF2-40B4-BE49-F238E27FC236}">
                <a16:creationId xmlns:a16="http://schemas.microsoft.com/office/drawing/2014/main" id="{ECFE4126-A409-48E9-D313-7D02CD0A95B9}"/>
              </a:ext>
            </a:extLst>
          </p:cNvPr>
          <p:cNvPicPr>
            <a:picLocks noChangeAspect="1"/>
          </p:cNvPicPr>
          <p:nvPr/>
        </p:nvPicPr>
        <p:blipFill>
          <a:blip r:embed="rId7"/>
          <a:stretch>
            <a:fillRect/>
          </a:stretch>
        </p:blipFill>
        <p:spPr>
          <a:xfrm>
            <a:off x="7833761" y="4617694"/>
            <a:ext cx="4153113" cy="2121009"/>
          </a:xfrm>
          <a:prstGeom prst="rect">
            <a:avLst/>
          </a:prstGeom>
        </p:spPr>
      </p:pic>
    </p:spTree>
    <p:extLst>
      <p:ext uri="{BB962C8B-B14F-4D97-AF65-F5344CB8AC3E}">
        <p14:creationId xmlns:p14="http://schemas.microsoft.com/office/powerpoint/2010/main" val="2856215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870D42-949A-465F-AB80-89E58690769E}"/>
              </a:ext>
            </a:extLst>
          </p:cNvPr>
          <p:cNvPicPr>
            <a:picLocks noChangeAspect="1"/>
          </p:cNvPicPr>
          <p:nvPr/>
        </p:nvPicPr>
        <p:blipFill>
          <a:blip r:embed="rId2"/>
          <a:stretch>
            <a:fillRect/>
          </a:stretch>
        </p:blipFill>
        <p:spPr>
          <a:xfrm>
            <a:off x="98965" y="192360"/>
            <a:ext cx="3683189" cy="1759040"/>
          </a:xfrm>
          <a:prstGeom prst="rect">
            <a:avLst/>
          </a:prstGeom>
        </p:spPr>
      </p:pic>
      <p:pic>
        <p:nvPicPr>
          <p:cNvPr id="5" name="Picture 4">
            <a:extLst>
              <a:ext uri="{FF2B5EF4-FFF2-40B4-BE49-F238E27FC236}">
                <a16:creationId xmlns:a16="http://schemas.microsoft.com/office/drawing/2014/main" id="{4347AAC0-5947-8D01-E285-18CF5D2A7070}"/>
              </a:ext>
            </a:extLst>
          </p:cNvPr>
          <p:cNvPicPr>
            <a:picLocks noChangeAspect="1"/>
          </p:cNvPicPr>
          <p:nvPr/>
        </p:nvPicPr>
        <p:blipFill>
          <a:blip r:embed="rId3"/>
          <a:stretch>
            <a:fillRect/>
          </a:stretch>
        </p:blipFill>
        <p:spPr>
          <a:xfrm>
            <a:off x="98965" y="2158933"/>
            <a:ext cx="4324572" cy="2540131"/>
          </a:xfrm>
          <a:prstGeom prst="rect">
            <a:avLst/>
          </a:prstGeom>
        </p:spPr>
      </p:pic>
      <p:pic>
        <p:nvPicPr>
          <p:cNvPr id="7" name="Picture 6">
            <a:extLst>
              <a:ext uri="{FF2B5EF4-FFF2-40B4-BE49-F238E27FC236}">
                <a16:creationId xmlns:a16="http://schemas.microsoft.com/office/drawing/2014/main" id="{7B1977CD-123B-7279-7B63-94188CC77D32}"/>
              </a:ext>
            </a:extLst>
          </p:cNvPr>
          <p:cNvPicPr>
            <a:picLocks noChangeAspect="1"/>
          </p:cNvPicPr>
          <p:nvPr/>
        </p:nvPicPr>
        <p:blipFill>
          <a:blip r:embed="rId4"/>
          <a:stretch>
            <a:fillRect/>
          </a:stretch>
        </p:blipFill>
        <p:spPr>
          <a:xfrm>
            <a:off x="5151120" y="176295"/>
            <a:ext cx="5893594" cy="3455080"/>
          </a:xfrm>
          <a:prstGeom prst="rect">
            <a:avLst/>
          </a:prstGeom>
        </p:spPr>
      </p:pic>
      <p:pic>
        <p:nvPicPr>
          <p:cNvPr id="9" name="Picture 8">
            <a:extLst>
              <a:ext uri="{FF2B5EF4-FFF2-40B4-BE49-F238E27FC236}">
                <a16:creationId xmlns:a16="http://schemas.microsoft.com/office/drawing/2014/main" id="{73FDA884-3782-483F-BDA6-20C0C506432D}"/>
              </a:ext>
            </a:extLst>
          </p:cNvPr>
          <p:cNvPicPr>
            <a:picLocks noChangeAspect="1"/>
          </p:cNvPicPr>
          <p:nvPr/>
        </p:nvPicPr>
        <p:blipFill>
          <a:blip r:embed="rId5"/>
          <a:stretch>
            <a:fillRect/>
          </a:stretch>
        </p:blipFill>
        <p:spPr>
          <a:xfrm>
            <a:off x="10142061" y="2993584"/>
            <a:ext cx="2057506" cy="997001"/>
          </a:xfrm>
          <a:prstGeom prst="rect">
            <a:avLst/>
          </a:prstGeom>
        </p:spPr>
      </p:pic>
      <p:pic>
        <p:nvPicPr>
          <p:cNvPr id="11" name="Picture 10">
            <a:extLst>
              <a:ext uri="{FF2B5EF4-FFF2-40B4-BE49-F238E27FC236}">
                <a16:creationId xmlns:a16="http://schemas.microsoft.com/office/drawing/2014/main" id="{BC159C4C-D170-D7DC-C64C-0DB0C97B50F9}"/>
              </a:ext>
            </a:extLst>
          </p:cNvPr>
          <p:cNvPicPr>
            <a:picLocks noChangeAspect="1"/>
          </p:cNvPicPr>
          <p:nvPr/>
        </p:nvPicPr>
        <p:blipFill>
          <a:blip r:embed="rId6"/>
          <a:stretch>
            <a:fillRect/>
          </a:stretch>
        </p:blipFill>
        <p:spPr>
          <a:xfrm>
            <a:off x="2845907" y="4273592"/>
            <a:ext cx="4796900" cy="2540131"/>
          </a:xfrm>
          <a:prstGeom prst="rect">
            <a:avLst/>
          </a:prstGeom>
        </p:spPr>
      </p:pic>
      <p:pic>
        <p:nvPicPr>
          <p:cNvPr id="13" name="Picture 12">
            <a:extLst>
              <a:ext uri="{FF2B5EF4-FFF2-40B4-BE49-F238E27FC236}">
                <a16:creationId xmlns:a16="http://schemas.microsoft.com/office/drawing/2014/main" id="{5110F8CB-57E4-5FE5-0101-57747859FBD0}"/>
              </a:ext>
            </a:extLst>
          </p:cNvPr>
          <p:cNvPicPr>
            <a:picLocks noChangeAspect="1"/>
          </p:cNvPicPr>
          <p:nvPr/>
        </p:nvPicPr>
        <p:blipFill>
          <a:blip r:embed="rId7"/>
          <a:stretch>
            <a:fillRect/>
          </a:stretch>
        </p:blipFill>
        <p:spPr>
          <a:xfrm>
            <a:off x="7739465" y="4349795"/>
            <a:ext cx="3010055" cy="2387723"/>
          </a:xfrm>
          <a:prstGeom prst="rect">
            <a:avLst/>
          </a:prstGeom>
        </p:spPr>
      </p:pic>
    </p:spTree>
    <p:extLst>
      <p:ext uri="{BB962C8B-B14F-4D97-AF65-F5344CB8AC3E}">
        <p14:creationId xmlns:p14="http://schemas.microsoft.com/office/powerpoint/2010/main" val="3770458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BEE6B5-6622-389A-4D2D-3DABBB022A5F}"/>
              </a:ext>
            </a:extLst>
          </p:cNvPr>
          <p:cNvPicPr>
            <a:picLocks noChangeAspect="1"/>
          </p:cNvPicPr>
          <p:nvPr/>
        </p:nvPicPr>
        <p:blipFill>
          <a:blip r:embed="rId2"/>
          <a:stretch>
            <a:fillRect/>
          </a:stretch>
        </p:blipFill>
        <p:spPr>
          <a:xfrm>
            <a:off x="120491" y="932750"/>
            <a:ext cx="5284629" cy="3094504"/>
          </a:xfrm>
          <a:prstGeom prst="rect">
            <a:avLst/>
          </a:prstGeom>
        </p:spPr>
      </p:pic>
      <p:pic>
        <p:nvPicPr>
          <p:cNvPr id="5" name="Picture 4">
            <a:extLst>
              <a:ext uri="{FF2B5EF4-FFF2-40B4-BE49-F238E27FC236}">
                <a16:creationId xmlns:a16="http://schemas.microsoft.com/office/drawing/2014/main" id="{8A24F4AB-61A7-33A6-16F0-E914B5C24F8B}"/>
              </a:ext>
            </a:extLst>
          </p:cNvPr>
          <p:cNvPicPr>
            <a:picLocks noChangeAspect="1"/>
          </p:cNvPicPr>
          <p:nvPr/>
        </p:nvPicPr>
        <p:blipFill>
          <a:blip r:embed="rId3"/>
          <a:stretch>
            <a:fillRect/>
          </a:stretch>
        </p:blipFill>
        <p:spPr>
          <a:xfrm>
            <a:off x="739727" y="4191000"/>
            <a:ext cx="1873346" cy="952549"/>
          </a:xfrm>
          <a:prstGeom prst="rect">
            <a:avLst/>
          </a:prstGeom>
        </p:spPr>
      </p:pic>
      <p:pic>
        <p:nvPicPr>
          <p:cNvPr id="7" name="Picture 6">
            <a:extLst>
              <a:ext uri="{FF2B5EF4-FFF2-40B4-BE49-F238E27FC236}">
                <a16:creationId xmlns:a16="http://schemas.microsoft.com/office/drawing/2014/main" id="{9ED2A14C-2C35-50C8-63B5-23CD834EE54B}"/>
              </a:ext>
            </a:extLst>
          </p:cNvPr>
          <p:cNvPicPr>
            <a:picLocks noChangeAspect="1"/>
          </p:cNvPicPr>
          <p:nvPr/>
        </p:nvPicPr>
        <p:blipFill>
          <a:blip r:embed="rId4"/>
          <a:srcRect t="22608"/>
          <a:stretch>
            <a:fillRect/>
          </a:stretch>
        </p:blipFill>
        <p:spPr>
          <a:xfrm>
            <a:off x="7086486" y="121828"/>
            <a:ext cx="4419827" cy="1621844"/>
          </a:xfrm>
          <a:prstGeom prst="rect">
            <a:avLst/>
          </a:prstGeom>
        </p:spPr>
      </p:pic>
      <p:pic>
        <p:nvPicPr>
          <p:cNvPr id="9" name="Picture 8">
            <a:extLst>
              <a:ext uri="{FF2B5EF4-FFF2-40B4-BE49-F238E27FC236}">
                <a16:creationId xmlns:a16="http://schemas.microsoft.com/office/drawing/2014/main" id="{E879500E-8B92-1FF1-A888-B1787E67E552}"/>
              </a:ext>
            </a:extLst>
          </p:cNvPr>
          <p:cNvPicPr>
            <a:picLocks noChangeAspect="1"/>
          </p:cNvPicPr>
          <p:nvPr/>
        </p:nvPicPr>
        <p:blipFill>
          <a:blip r:embed="rId5"/>
          <a:stretch>
            <a:fillRect/>
          </a:stretch>
        </p:blipFill>
        <p:spPr>
          <a:xfrm>
            <a:off x="6990030" y="2085906"/>
            <a:ext cx="1930499" cy="2686188"/>
          </a:xfrm>
          <a:prstGeom prst="rect">
            <a:avLst/>
          </a:prstGeom>
        </p:spPr>
      </p:pic>
      <p:pic>
        <p:nvPicPr>
          <p:cNvPr id="15" name="Picture 14">
            <a:extLst>
              <a:ext uri="{FF2B5EF4-FFF2-40B4-BE49-F238E27FC236}">
                <a16:creationId xmlns:a16="http://schemas.microsoft.com/office/drawing/2014/main" id="{BE32E924-92C6-877D-3B3B-5FEE97F985A5}"/>
              </a:ext>
            </a:extLst>
          </p:cNvPr>
          <p:cNvPicPr>
            <a:picLocks noChangeAspect="1"/>
          </p:cNvPicPr>
          <p:nvPr/>
        </p:nvPicPr>
        <p:blipFill>
          <a:blip r:embed="rId6"/>
          <a:stretch>
            <a:fillRect/>
          </a:stretch>
        </p:blipFill>
        <p:spPr>
          <a:xfrm>
            <a:off x="6990030" y="4542798"/>
            <a:ext cx="1930499" cy="1143059"/>
          </a:xfrm>
          <a:prstGeom prst="rect">
            <a:avLst/>
          </a:prstGeom>
        </p:spPr>
      </p:pic>
    </p:spTree>
    <p:extLst>
      <p:ext uri="{BB962C8B-B14F-4D97-AF65-F5344CB8AC3E}">
        <p14:creationId xmlns:p14="http://schemas.microsoft.com/office/powerpoint/2010/main" val="1631319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AB36E-E2A1-92D2-EB82-77AD43B92907}"/>
              </a:ext>
            </a:extLst>
          </p:cNvPr>
          <p:cNvSpPr>
            <a:spLocks noGrp="1"/>
          </p:cNvSpPr>
          <p:nvPr>
            <p:ph type="ctrTitle"/>
          </p:nvPr>
        </p:nvSpPr>
        <p:spPr>
          <a:xfrm>
            <a:off x="428171" y="254318"/>
            <a:ext cx="10239828" cy="787717"/>
          </a:xfrm>
        </p:spPr>
        <p:txBody>
          <a:bodyPr>
            <a:normAutofit fontScale="90000"/>
          </a:bodyPr>
          <a:lstStyle/>
          <a:p>
            <a:r>
              <a:rPr lang="en-IN" b="1">
                <a:solidFill>
                  <a:srgbClr val="FFC000"/>
                </a:solidFill>
                <a:latin typeface="Aptos"/>
              </a:rPr>
              <a:t>Tableau Dashboard overviews</a:t>
            </a:r>
            <a:endParaRPr lang="en-IN"/>
          </a:p>
        </p:txBody>
      </p:sp>
      <p:sp>
        <p:nvSpPr>
          <p:cNvPr id="3" name="Subtitle 2">
            <a:extLst>
              <a:ext uri="{FF2B5EF4-FFF2-40B4-BE49-F238E27FC236}">
                <a16:creationId xmlns:a16="http://schemas.microsoft.com/office/drawing/2014/main" id="{78260855-B731-9A07-5A9E-907C20879603}"/>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75698B21-7B1F-8A33-95B1-22749A5E937A}"/>
              </a:ext>
            </a:extLst>
          </p:cNvPr>
          <p:cNvPicPr>
            <a:picLocks noChangeAspect="1"/>
          </p:cNvPicPr>
          <p:nvPr/>
        </p:nvPicPr>
        <p:blipFill>
          <a:blip r:embed="rId2"/>
          <a:stretch>
            <a:fillRect/>
          </a:stretch>
        </p:blipFill>
        <p:spPr>
          <a:xfrm>
            <a:off x="0" y="1044443"/>
            <a:ext cx="12192000" cy="5814141"/>
          </a:xfrm>
          <a:prstGeom prst="rect">
            <a:avLst/>
          </a:prstGeom>
        </p:spPr>
      </p:pic>
    </p:spTree>
    <p:extLst>
      <p:ext uri="{BB962C8B-B14F-4D97-AF65-F5344CB8AC3E}">
        <p14:creationId xmlns:p14="http://schemas.microsoft.com/office/powerpoint/2010/main" val="856112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373B-8AF5-A06E-BB23-C464E8CD2B08}"/>
              </a:ext>
            </a:extLst>
          </p:cNvPr>
          <p:cNvSpPr>
            <a:spLocks noGrp="1"/>
          </p:cNvSpPr>
          <p:nvPr>
            <p:ph type="title"/>
          </p:nvPr>
        </p:nvSpPr>
        <p:spPr/>
        <p:txBody>
          <a:bodyPr>
            <a:normAutofit/>
          </a:bodyPr>
          <a:lstStyle/>
          <a:p>
            <a:r>
              <a:rPr lang="en-IN" sz="4400" b="1">
                <a:solidFill>
                  <a:srgbClr val="FFC000"/>
                </a:solidFill>
                <a:latin typeface="Aptos"/>
              </a:rPr>
              <a:t>KPI Overview &amp; Policy Performance</a:t>
            </a:r>
            <a:endParaRPr lang="en-US" sz="4400">
              <a:solidFill>
                <a:srgbClr val="000000"/>
              </a:solidFill>
              <a:latin typeface="Aptos"/>
            </a:endParaRPr>
          </a:p>
          <a:p>
            <a:endParaRPr lang="en-US" sz="4400">
              <a:ea typeface="Calibri Light"/>
              <a:cs typeface="Calibri Light"/>
            </a:endParaRPr>
          </a:p>
        </p:txBody>
      </p:sp>
      <p:pic>
        <p:nvPicPr>
          <p:cNvPr id="7" name="Content Placeholder 6">
            <a:extLst>
              <a:ext uri="{FF2B5EF4-FFF2-40B4-BE49-F238E27FC236}">
                <a16:creationId xmlns:a16="http://schemas.microsoft.com/office/drawing/2014/main" id="{D3653578-3687-D7E9-46B6-18C40226D510}"/>
              </a:ext>
            </a:extLst>
          </p:cNvPr>
          <p:cNvPicPr>
            <a:picLocks noGrp="1" noChangeAspect="1"/>
          </p:cNvPicPr>
          <p:nvPr>
            <p:ph sz="half" idx="1"/>
          </p:nvPr>
        </p:nvPicPr>
        <p:blipFill>
          <a:blip r:embed="rId2"/>
          <a:srcRect r="6312"/>
          <a:stretch>
            <a:fillRect/>
          </a:stretch>
        </p:blipFill>
        <p:spPr>
          <a:xfrm>
            <a:off x="6375400" y="1555556"/>
            <a:ext cx="5689604" cy="3541647"/>
          </a:xfrm>
          <a:prstGeom prst="rect">
            <a:avLst/>
          </a:prstGeom>
        </p:spPr>
      </p:pic>
      <p:sp>
        <p:nvSpPr>
          <p:cNvPr id="8" name="Content Placeholder 7">
            <a:extLst>
              <a:ext uri="{FF2B5EF4-FFF2-40B4-BE49-F238E27FC236}">
                <a16:creationId xmlns:a16="http://schemas.microsoft.com/office/drawing/2014/main" id="{EC65088D-72AB-6E91-79D4-80BFDAB2AA83}"/>
              </a:ext>
            </a:extLst>
          </p:cNvPr>
          <p:cNvSpPr>
            <a:spLocks noGrp="1"/>
          </p:cNvSpPr>
          <p:nvPr>
            <p:ph sz="half" idx="2"/>
          </p:nvPr>
        </p:nvSpPr>
        <p:spPr>
          <a:xfrm>
            <a:off x="315687" y="1557111"/>
            <a:ext cx="5958112" cy="4438423"/>
          </a:xfrm>
        </p:spPr>
        <p:txBody>
          <a:bodyPr vert="horz" lIns="91440" tIns="45720" rIns="91440" bIns="45720" rtlCol="0" anchor="t">
            <a:noAutofit/>
          </a:bodyPr>
          <a:lstStyle/>
          <a:p>
            <a:pPr marL="0" indent="0">
              <a:buNone/>
            </a:pPr>
            <a:r>
              <a:rPr lang="en-US" sz="1800" b="1">
                <a:ea typeface="+mn-lt"/>
                <a:cs typeface="+mn-lt"/>
              </a:rPr>
              <a:t>KPI Cards summarize overall business performance:</a:t>
            </a:r>
            <a:endParaRPr lang="en-US" sz="1800" b="1">
              <a:ea typeface="Calibri" panose="020F0502020204030204"/>
              <a:cs typeface="Calibri" panose="020F0502020204030204"/>
            </a:endParaRPr>
          </a:p>
          <a:p>
            <a:pPr marL="228600" indent="-228600"/>
            <a:r>
              <a:rPr lang="en-US" sz="1800" b="1">
                <a:ea typeface="+mn-lt"/>
                <a:cs typeface="+mn-lt"/>
              </a:rPr>
              <a:t>Total Policies: 5,000 | Total Customers: 3,148</a:t>
            </a:r>
            <a:endParaRPr lang="en-US" sz="1800" b="1">
              <a:ea typeface="Calibri"/>
              <a:cs typeface="Calibri"/>
            </a:endParaRPr>
          </a:p>
          <a:p>
            <a:pPr marL="228600" indent="-228600"/>
            <a:r>
              <a:rPr lang="en-US" sz="1800" b="1">
                <a:ea typeface="+mn-lt"/>
                <a:cs typeface="+mn-lt"/>
              </a:rPr>
              <a:t>Active Policies: 33.64%</a:t>
            </a:r>
            <a:endParaRPr lang="en-US" sz="1800" b="1">
              <a:ea typeface="Calibri"/>
              <a:cs typeface="Calibri"/>
            </a:endParaRPr>
          </a:p>
          <a:p>
            <a:pPr marL="228600" indent="-228600"/>
            <a:r>
              <a:rPr lang="en-US" sz="1800" b="1">
                <a:ea typeface="+mn-lt"/>
                <a:cs typeface="+mn-lt"/>
              </a:rPr>
              <a:t>Policy Coverage Range: 1,682 – 3,318</a:t>
            </a:r>
            <a:endParaRPr lang="en-US" sz="1800" b="1">
              <a:ea typeface="Calibri"/>
              <a:cs typeface="Calibri"/>
            </a:endParaRPr>
          </a:p>
          <a:p>
            <a:pPr marL="228600" indent="-228600"/>
            <a:r>
              <a:rPr lang="en-US" sz="1800" b="1">
                <a:ea typeface="+mn-lt"/>
                <a:cs typeface="+mn-lt"/>
              </a:rPr>
              <a:t>Total Claim Amount: ₹25.13 Cr</a:t>
            </a:r>
            <a:endParaRPr lang="en-US" sz="1800" b="1">
              <a:ea typeface="Calibri"/>
              <a:cs typeface="Calibri"/>
            </a:endParaRPr>
          </a:p>
          <a:p>
            <a:pPr marL="228600" indent="-228600"/>
            <a:r>
              <a:rPr lang="en-US" sz="1800" b="1">
                <a:ea typeface="+mn-lt"/>
                <a:cs typeface="+mn-lt"/>
              </a:rPr>
              <a:t>Average Coverage: ₹2.54 Lakh | Average Premium: ₹1,052</a:t>
            </a:r>
            <a:endParaRPr lang="en-US" sz="1800" b="1">
              <a:ea typeface="Calibri"/>
              <a:cs typeface="Calibri"/>
            </a:endParaRPr>
          </a:p>
          <a:p>
            <a:pPr marL="0" indent="0">
              <a:buNone/>
            </a:pPr>
            <a:r>
              <a:rPr lang="en-US" sz="1800" b="1">
                <a:ea typeface="+mn-lt"/>
                <a:cs typeface="+mn-lt"/>
              </a:rPr>
              <a:t>Policy Count by Gender – compares the number of policies purchased by Male, Female, and Other customers.</a:t>
            </a:r>
            <a:endParaRPr lang="en-US" sz="1800" b="1">
              <a:ea typeface="Calibri" panose="020F0502020204030204"/>
              <a:cs typeface="Calibri" panose="020F0502020204030204"/>
            </a:endParaRPr>
          </a:p>
          <a:p>
            <a:pPr marL="0" indent="0">
              <a:buNone/>
            </a:pPr>
            <a:r>
              <a:rPr lang="en-US" sz="1800" b="1">
                <a:ea typeface="+mn-lt"/>
                <a:cs typeface="+mn-lt"/>
              </a:rPr>
              <a:t>Policy Count by Status – shows the distribution of Active, Approved, and Lapsed policies.</a:t>
            </a:r>
            <a:endParaRPr lang="en-US" sz="1800" b="1">
              <a:ea typeface="Calibri" panose="020F0502020204030204"/>
              <a:cs typeface="Calibri" panose="020F0502020204030204"/>
            </a:endParaRPr>
          </a:p>
          <a:p>
            <a:pPr marL="0" indent="0">
              <a:buNone/>
            </a:pPr>
            <a:r>
              <a:rPr lang="en-US" sz="1800" b="1">
                <a:ea typeface="+mn-lt"/>
                <a:cs typeface="+mn-lt"/>
              </a:rPr>
              <a:t>Policy Count by Claim Status (Tree map) – highlights the number of policies by claim status such as Rejected, Pending, Approved, and Paid, making it easy to identify the largest category.</a:t>
            </a:r>
            <a:endParaRPr lang="en-US" sz="1800" b="1">
              <a:ea typeface="Calibri" panose="020F0502020204030204"/>
              <a:cs typeface="Calibri" panose="020F0502020204030204"/>
            </a:endParaRPr>
          </a:p>
          <a:p>
            <a:pPr marL="228600" indent="-228600"/>
            <a:endParaRPr lang="en-US">
              <a:ea typeface="Calibri"/>
              <a:cs typeface="Calibri"/>
            </a:endParaRPr>
          </a:p>
        </p:txBody>
      </p:sp>
    </p:spTree>
    <p:extLst>
      <p:ext uri="{BB962C8B-B14F-4D97-AF65-F5344CB8AC3E}">
        <p14:creationId xmlns:p14="http://schemas.microsoft.com/office/powerpoint/2010/main" val="1583332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E85C6-7001-6B6A-A368-C975A19E20C4}"/>
              </a:ext>
            </a:extLst>
          </p:cNvPr>
          <p:cNvSpPr>
            <a:spLocks noGrp="1"/>
          </p:cNvSpPr>
          <p:nvPr>
            <p:ph type="title"/>
          </p:nvPr>
        </p:nvSpPr>
        <p:spPr/>
        <p:txBody>
          <a:bodyPr>
            <a:normAutofit fontScale="90000"/>
          </a:bodyPr>
          <a:lstStyle/>
          <a:p>
            <a:r>
              <a:rPr lang="en-IN" sz="4400" b="1">
                <a:solidFill>
                  <a:srgbClr val="FFC000"/>
                </a:solidFill>
                <a:latin typeface="Aptos"/>
              </a:rPr>
              <a:t>Policy Type Analysis &amp; Policy Trend Analysis</a:t>
            </a:r>
          </a:p>
          <a:p>
            <a:endParaRPr lang="en-US" sz="4400">
              <a:ea typeface="Calibri Light"/>
              <a:cs typeface="Calibri Light"/>
            </a:endParaRPr>
          </a:p>
          <a:p>
            <a:endParaRPr lang="en-US" sz="4400">
              <a:ea typeface="Calibri Light"/>
              <a:cs typeface="Calibri Light"/>
            </a:endParaRPr>
          </a:p>
        </p:txBody>
      </p:sp>
      <p:pic>
        <p:nvPicPr>
          <p:cNvPr id="4" name="Content Placeholder 3">
            <a:extLst>
              <a:ext uri="{FF2B5EF4-FFF2-40B4-BE49-F238E27FC236}">
                <a16:creationId xmlns:a16="http://schemas.microsoft.com/office/drawing/2014/main" id="{C145144A-8628-6DE9-22D0-5B969DECFFE5}"/>
              </a:ext>
            </a:extLst>
          </p:cNvPr>
          <p:cNvPicPr>
            <a:picLocks noGrp="1" noChangeAspect="1"/>
          </p:cNvPicPr>
          <p:nvPr>
            <p:ph sz="half" idx="1"/>
          </p:nvPr>
        </p:nvPicPr>
        <p:blipFill>
          <a:blip r:embed="rId2"/>
          <a:stretch>
            <a:fillRect/>
          </a:stretch>
        </p:blipFill>
        <p:spPr>
          <a:xfrm>
            <a:off x="7403750" y="901311"/>
            <a:ext cx="4779528" cy="2672994"/>
          </a:xfrm>
          <a:prstGeom prst="rect">
            <a:avLst/>
          </a:prstGeom>
        </p:spPr>
      </p:pic>
      <p:sp>
        <p:nvSpPr>
          <p:cNvPr id="6" name="Content Placeholder 5">
            <a:extLst>
              <a:ext uri="{FF2B5EF4-FFF2-40B4-BE49-F238E27FC236}">
                <a16:creationId xmlns:a16="http://schemas.microsoft.com/office/drawing/2014/main" id="{316D6734-D841-74FE-5FE9-E2F45735C240}"/>
              </a:ext>
            </a:extLst>
          </p:cNvPr>
          <p:cNvSpPr>
            <a:spLocks noGrp="1"/>
          </p:cNvSpPr>
          <p:nvPr>
            <p:ph sz="half" idx="2"/>
          </p:nvPr>
        </p:nvSpPr>
        <p:spPr>
          <a:xfrm>
            <a:off x="337458" y="1339396"/>
            <a:ext cx="5871027" cy="4873852"/>
          </a:xfrm>
        </p:spPr>
        <p:txBody>
          <a:bodyPr vert="horz" lIns="91440" tIns="45720" rIns="91440" bIns="45720" rtlCol="0" anchor="t">
            <a:noAutofit/>
          </a:bodyPr>
          <a:lstStyle/>
          <a:p>
            <a:pPr marL="0" indent="0">
              <a:buNone/>
            </a:pPr>
            <a:r>
              <a:rPr lang="en-US" sz="1800" b="1">
                <a:ea typeface="+mn-lt"/>
                <a:cs typeface="+mn-lt"/>
              </a:rPr>
              <a:t>Policy Type Analysis summarizes the distribution of policies across different insurance categories:</a:t>
            </a:r>
            <a:endParaRPr lang="en-US" sz="1800" b="1">
              <a:ea typeface="Calibri" panose="020F0502020204030204"/>
              <a:cs typeface="Calibri" panose="020F0502020204030204"/>
            </a:endParaRPr>
          </a:p>
          <a:p>
            <a:pPr marL="228600" indent="-228600"/>
            <a:r>
              <a:rPr lang="en-US" sz="1800" b="1">
                <a:ea typeface="+mn-lt"/>
                <a:cs typeface="+mn-lt"/>
              </a:rPr>
              <a:t>Health Insurance has the highest number of policies (1,316).</a:t>
            </a:r>
            <a:endParaRPr lang="en-US" sz="1800" b="1">
              <a:ea typeface="Calibri"/>
              <a:cs typeface="Calibri"/>
            </a:endParaRPr>
          </a:p>
          <a:p>
            <a:pPr marL="228600" indent="-228600"/>
            <a:r>
              <a:rPr lang="en-US" sz="1800" b="1">
                <a:ea typeface="+mn-lt"/>
                <a:cs typeface="+mn-lt"/>
              </a:rPr>
              <a:t>Property Insurance: 1,236 policies.</a:t>
            </a:r>
            <a:endParaRPr lang="en-US" sz="1800" b="1">
              <a:ea typeface="Calibri"/>
              <a:cs typeface="Calibri"/>
            </a:endParaRPr>
          </a:p>
          <a:p>
            <a:pPr marL="228600" indent="-228600"/>
            <a:r>
              <a:rPr lang="en-US" sz="1800" b="1">
                <a:ea typeface="+mn-lt"/>
                <a:cs typeface="+mn-lt"/>
              </a:rPr>
              <a:t>Life Insurance: 1,234 policies.</a:t>
            </a:r>
            <a:endParaRPr lang="en-US" sz="1800" b="1">
              <a:ea typeface="Calibri"/>
              <a:cs typeface="Calibri"/>
            </a:endParaRPr>
          </a:p>
          <a:p>
            <a:pPr marL="228600" indent="-228600"/>
            <a:r>
              <a:rPr lang="en-US" sz="1800" b="1">
                <a:ea typeface="+mn-lt"/>
                <a:cs typeface="+mn-lt"/>
              </a:rPr>
              <a:t>Auto Insurance: 1,214 policies.</a:t>
            </a:r>
            <a:endParaRPr lang="en-US" sz="1800" b="1">
              <a:ea typeface="Calibri"/>
              <a:cs typeface="Calibri"/>
            </a:endParaRPr>
          </a:p>
          <a:p>
            <a:pPr marL="228600" indent="-228600"/>
            <a:r>
              <a:rPr lang="en-US" sz="1800" b="1">
                <a:ea typeface="+mn-lt"/>
                <a:cs typeface="+mn-lt"/>
              </a:rPr>
              <a:t>The distribution is balanced, with Health Insurance being the most popular policy type.</a:t>
            </a:r>
            <a:endParaRPr lang="en-US" sz="1800" b="1">
              <a:ea typeface="Calibri"/>
              <a:cs typeface="Calibri"/>
            </a:endParaRPr>
          </a:p>
          <a:p>
            <a:pPr marL="0" indent="0">
              <a:buNone/>
            </a:pPr>
            <a:r>
              <a:rPr lang="en-US" sz="1800" b="1">
                <a:ea typeface="+mn-lt"/>
                <a:cs typeface="+mn-lt"/>
              </a:rPr>
              <a:t>Policy End Trend tracks the number of policy expirations over time.</a:t>
            </a:r>
            <a:endParaRPr lang="en-US" sz="1800" b="1">
              <a:ea typeface="Calibri" panose="020F0502020204030204"/>
              <a:cs typeface="Calibri" panose="020F0502020204030204"/>
            </a:endParaRPr>
          </a:p>
          <a:p>
            <a:pPr marL="228600" indent="-228600"/>
            <a:r>
              <a:rPr lang="en-US" sz="1800" b="1">
                <a:ea typeface="+mn-lt"/>
                <a:cs typeface="+mn-lt"/>
              </a:rPr>
              <a:t>The trend increases gradually and reaches its peak in the middle of the period.</a:t>
            </a:r>
            <a:endParaRPr lang="en-US" sz="1800" b="1">
              <a:ea typeface="Calibri"/>
              <a:cs typeface="Calibri"/>
            </a:endParaRPr>
          </a:p>
          <a:p>
            <a:pPr marL="228600" indent="-228600"/>
            <a:r>
              <a:rPr lang="en-US" sz="1800" b="1">
                <a:ea typeface="+mn-lt"/>
                <a:cs typeface="+mn-lt"/>
              </a:rPr>
              <a:t>After the peak, policy expirations decline steadily.</a:t>
            </a:r>
            <a:endParaRPr lang="en-US" sz="1800" b="1">
              <a:ea typeface="Calibri"/>
              <a:cs typeface="Calibri"/>
            </a:endParaRPr>
          </a:p>
          <a:p>
            <a:pPr marL="228600" indent="-228600"/>
            <a:r>
              <a:rPr lang="en-US" sz="1800" b="1">
                <a:ea typeface="+mn-lt"/>
                <a:cs typeface="+mn-lt"/>
              </a:rPr>
              <a:t>This chart helps identify seasonal patterns and supports timely policy renewal planning</a:t>
            </a:r>
            <a:endParaRPr lang="en-US" sz="1800" b="1">
              <a:ea typeface="Calibri"/>
              <a:cs typeface="Calibri"/>
            </a:endParaRPr>
          </a:p>
          <a:p>
            <a:pPr marL="228600" indent="-228600"/>
            <a:endParaRPr lang="en-US">
              <a:ea typeface="Calibri"/>
              <a:cs typeface="Calibri"/>
            </a:endParaRPr>
          </a:p>
        </p:txBody>
      </p:sp>
      <p:pic>
        <p:nvPicPr>
          <p:cNvPr id="5" name="Picture 4">
            <a:extLst>
              <a:ext uri="{FF2B5EF4-FFF2-40B4-BE49-F238E27FC236}">
                <a16:creationId xmlns:a16="http://schemas.microsoft.com/office/drawing/2014/main" id="{B225EFAC-73F3-B7BE-141D-BCDC344E2542}"/>
              </a:ext>
            </a:extLst>
          </p:cNvPr>
          <p:cNvPicPr>
            <a:picLocks noChangeAspect="1"/>
          </p:cNvPicPr>
          <p:nvPr/>
        </p:nvPicPr>
        <p:blipFill>
          <a:blip r:embed="rId3"/>
          <a:stretch>
            <a:fillRect/>
          </a:stretch>
        </p:blipFill>
        <p:spPr>
          <a:xfrm>
            <a:off x="6202815" y="3576865"/>
            <a:ext cx="5983968" cy="2868385"/>
          </a:xfrm>
          <a:prstGeom prst="rect">
            <a:avLst/>
          </a:prstGeom>
        </p:spPr>
      </p:pic>
    </p:spTree>
    <p:extLst>
      <p:ext uri="{BB962C8B-B14F-4D97-AF65-F5344CB8AC3E}">
        <p14:creationId xmlns:p14="http://schemas.microsoft.com/office/powerpoint/2010/main" val="3615900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62584-7147-DC08-3C05-3AE5A254A9A2}"/>
              </a:ext>
            </a:extLst>
          </p:cNvPr>
          <p:cNvSpPr>
            <a:spLocks noGrp="1"/>
          </p:cNvSpPr>
          <p:nvPr>
            <p:ph type="title"/>
          </p:nvPr>
        </p:nvSpPr>
        <p:spPr/>
        <p:txBody>
          <a:bodyPr>
            <a:normAutofit/>
          </a:bodyPr>
          <a:lstStyle/>
          <a:p>
            <a:r>
              <a:rPr lang="en-IN" sz="3600" b="1">
                <a:solidFill>
                  <a:srgbClr val="FFC000"/>
                </a:solidFill>
                <a:latin typeface="Aptos"/>
              </a:rPr>
              <a:t>Overall Insights, Recommendations &amp; Conclusion</a:t>
            </a:r>
            <a:endParaRPr lang="en-US" sz="3600">
              <a:solidFill>
                <a:srgbClr val="000000"/>
              </a:solidFill>
              <a:latin typeface="Aptos"/>
            </a:endParaRPr>
          </a:p>
          <a:p>
            <a:endParaRPr lang="en-US" sz="4400">
              <a:ea typeface="Calibri Light"/>
              <a:cs typeface="Calibri Light"/>
            </a:endParaRPr>
          </a:p>
        </p:txBody>
      </p:sp>
      <p:sp>
        <p:nvSpPr>
          <p:cNvPr id="3" name="Content Placeholder 2">
            <a:extLst>
              <a:ext uri="{FF2B5EF4-FFF2-40B4-BE49-F238E27FC236}">
                <a16:creationId xmlns:a16="http://schemas.microsoft.com/office/drawing/2014/main" id="{90020837-9AE9-FC4B-54D3-76B13349DCE8}"/>
              </a:ext>
            </a:extLst>
          </p:cNvPr>
          <p:cNvSpPr>
            <a:spLocks noGrp="1"/>
          </p:cNvSpPr>
          <p:nvPr>
            <p:ph idx="1"/>
          </p:nvPr>
        </p:nvSpPr>
        <p:spPr>
          <a:xfrm>
            <a:off x="417286" y="1390196"/>
            <a:ext cx="3628573" cy="4656138"/>
          </a:xfrm>
        </p:spPr>
        <p:txBody>
          <a:bodyPr vert="horz" lIns="91440" tIns="45720" rIns="91440" bIns="45720" rtlCol="0" anchor="t">
            <a:noAutofit/>
          </a:bodyPr>
          <a:lstStyle/>
          <a:p>
            <a:pPr marL="0" indent="0">
              <a:buNone/>
            </a:pPr>
            <a:r>
              <a:rPr lang="en-US" sz="1800" b="1">
                <a:ea typeface="+mn-lt"/>
                <a:cs typeface="+mn-lt"/>
              </a:rPr>
              <a:t>Key Insights:</a:t>
            </a:r>
            <a:endParaRPr lang="en-US" sz="1800" b="1">
              <a:ea typeface="Calibri" panose="020F0502020204030204"/>
              <a:cs typeface="Calibri" panose="020F0502020204030204"/>
            </a:endParaRPr>
          </a:p>
          <a:p>
            <a:pPr marL="228600" indent="-228600"/>
            <a:r>
              <a:rPr lang="en-US" sz="1800" b="1">
                <a:ea typeface="+mn-lt"/>
                <a:cs typeface="+mn-lt"/>
              </a:rPr>
              <a:t>The dashboard provides a comprehensive overview of policy performance, customer demographics, premium trends, and claim analysis.</a:t>
            </a:r>
            <a:endParaRPr lang="en-US" sz="1800" b="1">
              <a:ea typeface="Calibri"/>
              <a:cs typeface="Calibri"/>
            </a:endParaRPr>
          </a:p>
          <a:p>
            <a:pPr marL="228600" indent="-228600"/>
            <a:r>
              <a:rPr lang="en-US" sz="1800" b="1">
                <a:ea typeface="+mn-lt"/>
                <a:cs typeface="+mn-lt"/>
              </a:rPr>
              <a:t>Health Insurance is the most popular policy type, while policy distribution remains balanced across all categories.</a:t>
            </a:r>
            <a:endParaRPr lang="en-US" sz="1800" b="1">
              <a:ea typeface="Calibri"/>
              <a:cs typeface="Calibri"/>
            </a:endParaRPr>
          </a:p>
          <a:p>
            <a:pPr marL="228600" indent="-228600"/>
            <a:r>
              <a:rPr lang="en-US" sz="1800" b="1">
                <a:ea typeface="+mn-lt"/>
                <a:cs typeface="+mn-lt"/>
              </a:rPr>
              <a:t>KPI metrics help track total policies, claims, average premium, and coverage for better business monitoring.</a:t>
            </a:r>
            <a:endParaRPr lang="en-US" sz="1800" b="1">
              <a:ea typeface="Calibri"/>
              <a:cs typeface="Calibri"/>
            </a:endParaRPr>
          </a:p>
          <a:p>
            <a:pPr marL="228600" indent="-228600"/>
            <a:r>
              <a:rPr lang="en-US" sz="1800" b="1">
                <a:ea typeface="+mn-lt"/>
                <a:cs typeface="+mn-lt"/>
              </a:rPr>
              <a:t>Policy trend analysis highlights seasonal patterns and supports renewal planning</a:t>
            </a:r>
            <a:endParaRPr lang="en-US" sz="1800" b="1">
              <a:ea typeface="Calibri"/>
              <a:cs typeface="Calibri"/>
            </a:endParaRPr>
          </a:p>
          <a:p>
            <a:pPr marL="228600" indent="-228600"/>
            <a:endParaRPr lang="en-US" sz="1800" b="1">
              <a:ea typeface="Calibri"/>
              <a:cs typeface="Calibri"/>
            </a:endParaRPr>
          </a:p>
        </p:txBody>
      </p:sp>
      <p:sp>
        <p:nvSpPr>
          <p:cNvPr id="6" name="Content Placeholder 2">
            <a:extLst>
              <a:ext uri="{FF2B5EF4-FFF2-40B4-BE49-F238E27FC236}">
                <a16:creationId xmlns:a16="http://schemas.microsoft.com/office/drawing/2014/main" id="{C745EB3C-5951-0735-3D6C-E8E3BDA9FCB2}"/>
              </a:ext>
            </a:extLst>
          </p:cNvPr>
          <p:cNvSpPr txBox="1">
            <a:spLocks/>
          </p:cNvSpPr>
          <p:nvPr/>
        </p:nvSpPr>
        <p:spPr>
          <a:xfrm>
            <a:off x="4459514" y="1368425"/>
            <a:ext cx="3628573" cy="4808538"/>
          </a:xfrm>
          <a:prstGeom prst="rect">
            <a:avLst/>
          </a:prstGeom>
        </p:spPr>
        <p:txBody>
          <a:bodyPr vert="horz" lIns="91440" tIns="45720" rIns="91440" bIns="45720" rtlCol="0" anchor="t">
            <a:normAutofit/>
          </a:bodyPr>
          <a:lstStyle>
            <a:lvl1pPr marL="228605" indent="-228605" algn="l" defTabSz="91442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6" indent="-228605" algn="l" defTabSz="91442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7" indent="-228605" algn="l" defTabSz="91442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39"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49"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0"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1"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2"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3"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ea typeface="+mn-lt"/>
                <a:cs typeface="+mn-lt"/>
              </a:rPr>
              <a:t>Recommendations:</a:t>
            </a:r>
          </a:p>
          <a:p>
            <a:pPr marL="228600" indent="-228600"/>
            <a:r>
              <a:rPr lang="en-US" sz="1800" b="1">
                <a:ea typeface="+mn-lt"/>
                <a:cs typeface="+mn-lt"/>
              </a:rPr>
              <a:t>Increase marketing efforts for Auto and Life Insurance to improve policy sales.</a:t>
            </a:r>
          </a:p>
          <a:p>
            <a:pPr marL="228600" indent="-228600"/>
            <a:r>
              <a:rPr lang="en-US" sz="1800" b="1">
                <a:ea typeface="+mn-lt"/>
                <a:cs typeface="+mn-lt"/>
              </a:rPr>
              <a:t>Focus on customer retention by encouraging timely policy renewals.</a:t>
            </a:r>
            <a:endParaRPr lang="en-US" sz="1800" b="1">
              <a:ea typeface="Calibri"/>
              <a:cs typeface="Calibri"/>
            </a:endParaRPr>
          </a:p>
          <a:p>
            <a:pPr marL="228600" indent="-228600"/>
            <a:r>
              <a:rPr lang="en-US" sz="1800" b="1">
                <a:ea typeface="+mn-lt"/>
                <a:cs typeface="+mn-lt"/>
              </a:rPr>
              <a:t>Monitor claim status regularly to improve claim settlement efficiency.</a:t>
            </a:r>
          </a:p>
          <a:p>
            <a:pPr marL="228600" indent="-228600"/>
            <a:r>
              <a:rPr lang="en-US" sz="1800" b="1">
                <a:ea typeface="+mn-lt"/>
                <a:cs typeface="+mn-lt"/>
              </a:rPr>
              <a:t>Add advanced KPIs such as Renewal Rate, Claim Settlement Ratio, Customer Retention Rate, and Regional Performance.</a:t>
            </a:r>
          </a:p>
          <a:p>
            <a:pPr marL="0" indent="0">
              <a:buNone/>
            </a:pPr>
            <a:endParaRPr lang="en-US" sz="1500">
              <a:ea typeface="Calibri"/>
              <a:cs typeface="Calibri"/>
            </a:endParaRPr>
          </a:p>
        </p:txBody>
      </p:sp>
      <p:sp>
        <p:nvSpPr>
          <p:cNvPr id="7" name="Content Placeholder 2">
            <a:extLst>
              <a:ext uri="{FF2B5EF4-FFF2-40B4-BE49-F238E27FC236}">
                <a16:creationId xmlns:a16="http://schemas.microsoft.com/office/drawing/2014/main" id="{52F5B122-E52D-D62A-AD41-A5BCE286EDA1}"/>
              </a:ext>
            </a:extLst>
          </p:cNvPr>
          <p:cNvSpPr txBox="1">
            <a:spLocks/>
          </p:cNvSpPr>
          <p:nvPr/>
        </p:nvSpPr>
        <p:spPr>
          <a:xfrm>
            <a:off x="8095342" y="1390196"/>
            <a:ext cx="3628573" cy="4786766"/>
          </a:xfrm>
          <a:prstGeom prst="rect">
            <a:avLst/>
          </a:prstGeom>
        </p:spPr>
        <p:txBody>
          <a:bodyPr vert="horz" lIns="91440" tIns="45720" rIns="91440" bIns="45720" rtlCol="0" anchor="t">
            <a:normAutofit/>
          </a:bodyPr>
          <a:lstStyle>
            <a:lvl1pPr marL="228605" indent="-228605" algn="l" defTabSz="91442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6" indent="-228605" algn="l" defTabSz="91442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7" indent="-228605" algn="l" defTabSz="91442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39"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49"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0"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1"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2"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3"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a:ea typeface="+mn-lt"/>
                <a:cs typeface="+mn-lt"/>
              </a:rPr>
              <a:t> </a:t>
            </a:r>
            <a:r>
              <a:rPr lang="en-US" sz="1800" b="1">
                <a:ea typeface="+mn-lt"/>
                <a:cs typeface="+mn-lt"/>
              </a:rPr>
              <a:t>Conclusion:</a:t>
            </a:r>
          </a:p>
          <a:p>
            <a:pPr marL="228600" indent="-228600"/>
            <a:r>
              <a:rPr lang="en-US" sz="1800" b="1">
                <a:ea typeface="+mn-lt"/>
                <a:cs typeface="+mn-lt"/>
              </a:rPr>
              <a:t>The Insurance Analytics Dashboard delivers meaningful insights into policy performance, customer behavior, claims, and premium trends. It supports data-driven decision-making, improves operational efficiency, and helps identify opportunities for business growth.</a:t>
            </a:r>
          </a:p>
          <a:p>
            <a:pPr marL="228600" indent="-228600"/>
            <a:r>
              <a:rPr lang="en-US" sz="1800" b="1">
                <a:ea typeface="+mn-lt"/>
                <a:cs typeface="+mn-lt"/>
              </a:rPr>
              <a:t>This is professional, concise, and suitable for presenting your Power BI insurance dashboard during interviews or project demonstrations.</a:t>
            </a:r>
          </a:p>
          <a:p>
            <a:pPr marL="228600" indent="-228600"/>
            <a:endParaRPr lang="en-US" sz="1800" b="1">
              <a:ea typeface="Calibri"/>
              <a:cs typeface="Calibri"/>
            </a:endParaRPr>
          </a:p>
        </p:txBody>
      </p:sp>
    </p:spTree>
    <p:extLst>
      <p:ext uri="{BB962C8B-B14F-4D97-AF65-F5344CB8AC3E}">
        <p14:creationId xmlns:p14="http://schemas.microsoft.com/office/powerpoint/2010/main" val="78109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7BB7E-0578-C687-EEAB-50D07AA64366}"/>
              </a:ext>
            </a:extLst>
          </p:cNvPr>
          <p:cNvSpPr>
            <a:spLocks noGrp="1"/>
          </p:cNvSpPr>
          <p:nvPr>
            <p:ph type="title"/>
          </p:nvPr>
        </p:nvSpPr>
        <p:spPr>
          <a:xfrm>
            <a:off x="838200" y="365126"/>
            <a:ext cx="10537371" cy="940935"/>
          </a:xfrm>
        </p:spPr>
        <p:txBody>
          <a:bodyPr/>
          <a:lstStyle/>
          <a:p>
            <a:pPr algn="ctr"/>
            <a:r>
              <a:rPr lang="en-US" sz="3600" b="1">
                <a:solidFill>
                  <a:srgbClr val="FFC000"/>
                </a:solidFill>
                <a:latin typeface="Aptos"/>
              </a:rPr>
              <a:t>Conclusion</a:t>
            </a:r>
            <a:endParaRPr lang="en-US"/>
          </a:p>
        </p:txBody>
      </p:sp>
      <p:sp>
        <p:nvSpPr>
          <p:cNvPr id="6" name="Content Placeholder 5">
            <a:extLst>
              <a:ext uri="{FF2B5EF4-FFF2-40B4-BE49-F238E27FC236}">
                <a16:creationId xmlns:a16="http://schemas.microsoft.com/office/drawing/2014/main" id="{2FACD2AA-ABE7-3D5E-6A80-E62CBE9F8201}"/>
              </a:ext>
            </a:extLst>
          </p:cNvPr>
          <p:cNvSpPr>
            <a:spLocks noGrp="1"/>
          </p:cNvSpPr>
          <p:nvPr>
            <p:ph idx="1"/>
          </p:nvPr>
        </p:nvSpPr>
        <p:spPr>
          <a:xfrm>
            <a:off x="838200" y="1477283"/>
            <a:ext cx="10522857" cy="4699680"/>
          </a:xfrm>
        </p:spPr>
        <p:txBody>
          <a:bodyPr vert="horz" lIns="91440" tIns="45720" rIns="91440" bIns="45720" rtlCol="0" anchor="t">
            <a:normAutofit/>
          </a:bodyPr>
          <a:lstStyle/>
          <a:p>
            <a:pPr marL="0" indent="0">
              <a:buNone/>
            </a:pPr>
            <a:r>
              <a:rPr lang="en-US" sz="1700" b="1">
                <a:ea typeface="Calibri"/>
                <a:cs typeface="Calibri"/>
              </a:rPr>
              <a:t>       </a:t>
            </a:r>
            <a:r>
              <a:rPr lang="en-US" sz="2000" b="1">
                <a:ea typeface="Calibri"/>
                <a:cs typeface="Calibri"/>
              </a:rPr>
              <a:t>Too many policies are inactive.</a:t>
            </a:r>
            <a:endParaRPr lang="en-US" sz="2000">
              <a:solidFill>
                <a:srgbClr val="000000"/>
              </a:solidFill>
              <a:ea typeface="Calibri"/>
              <a:cs typeface="Calibri"/>
            </a:endParaRPr>
          </a:p>
          <a:p>
            <a:pPr marL="0" indent="0">
              <a:buNone/>
            </a:pPr>
            <a:r>
              <a:rPr lang="en-US" sz="1300">
                <a:solidFill>
                  <a:srgbClr val="CFE0FF"/>
                </a:solidFill>
                <a:ea typeface="Calibri"/>
                <a:cs typeface="Calibri"/>
              </a:rPr>
              <a:t>     </a:t>
            </a:r>
            <a:r>
              <a:rPr lang="en-US" sz="1400">
                <a:solidFill>
                  <a:srgbClr val="CFE0FF"/>
                </a:solidFill>
                <a:ea typeface="Calibri"/>
                <a:cs typeface="Calibri"/>
              </a:rPr>
              <a:t>          Only 1 in 3 policies (33.64%) is active — most of the book has lapsed or been terminated.</a:t>
            </a:r>
            <a:endParaRPr lang="en-US" sz="1400">
              <a:solidFill>
                <a:srgbClr val="000000"/>
              </a:solidFill>
              <a:ea typeface="Calibri"/>
              <a:cs typeface="Calibri"/>
            </a:endParaRPr>
          </a:p>
          <a:p>
            <a:pPr marL="0" indent="0">
              <a:buNone/>
            </a:pPr>
            <a:endParaRPr lang="en-US" sz="1700" b="1">
              <a:ea typeface="Calibri"/>
              <a:cs typeface="Calibri"/>
            </a:endParaRPr>
          </a:p>
          <a:p>
            <a:pPr marL="0" indent="0">
              <a:buNone/>
            </a:pPr>
            <a:r>
              <a:rPr lang="en-US" sz="1700" b="1">
                <a:ea typeface="Calibri"/>
                <a:cs typeface="Calibri"/>
              </a:rPr>
              <a:t>       </a:t>
            </a:r>
            <a:r>
              <a:rPr lang="en-US" sz="2000" b="1">
                <a:ea typeface="Calibri"/>
                <a:cs typeface="Calibri"/>
              </a:rPr>
              <a:t> A big renewal wave is coming.</a:t>
            </a:r>
            <a:endParaRPr lang="en-US" sz="2000">
              <a:solidFill>
                <a:srgbClr val="000000"/>
              </a:solidFill>
              <a:ea typeface="Calibri"/>
              <a:cs typeface="Calibri"/>
            </a:endParaRPr>
          </a:p>
          <a:p>
            <a:pPr marL="228600" indent="-228600">
              <a:buNone/>
            </a:pPr>
            <a:r>
              <a:rPr lang="en-US" sz="1300">
                <a:solidFill>
                  <a:srgbClr val="CFE0FF"/>
                </a:solidFill>
                <a:ea typeface="Calibri"/>
                <a:cs typeface="Calibri"/>
              </a:rPr>
              <a:t>                </a:t>
            </a:r>
            <a:r>
              <a:rPr lang="en-US" sz="1400">
                <a:solidFill>
                  <a:srgbClr val="CFE0FF"/>
                </a:solidFill>
                <a:ea typeface="Calibri"/>
                <a:cs typeface="Calibri"/>
              </a:rPr>
              <a:t>526 policies end in 2025, the largest expiry group we have — a real risk of losing more customers.</a:t>
            </a:r>
            <a:endParaRPr lang="en-US" sz="1400">
              <a:solidFill>
                <a:srgbClr val="000000"/>
              </a:solidFill>
              <a:ea typeface="Calibri"/>
              <a:cs typeface="Calibri"/>
            </a:endParaRPr>
          </a:p>
          <a:p>
            <a:pPr marL="228600" indent="-228600">
              <a:buNone/>
            </a:pPr>
            <a:endParaRPr lang="en-US" sz="1300">
              <a:solidFill>
                <a:srgbClr val="CFE0FF"/>
              </a:solidFill>
              <a:ea typeface="Calibri"/>
              <a:cs typeface="Calibri"/>
            </a:endParaRPr>
          </a:p>
          <a:p>
            <a:pPr marL="228600" indent="-228600">
              <a:buNone/>
            </a:pPr>
            <a:r>
              <a:rPr lang="en-US" sz="1700" b="1">
                <a:solidFill>
                  <a:srgbClr val="FFFFFF"/>
                </a:solidFill>
                <a:ea typeface="Calibri"/>
                <a:cs typeface="Calibri"/>
              </a:rPr>
              <a:t>      </a:t>
            </a:r>
            <a:r>
              <a:rPr lang="en-US" sz="2000" b="1">
                <a:solidFill>
                  <a:srgbClr val="FFFFFF"/>
                </a:solidFill>
                <a:ea typeface="Calibri"/>
                <a:cs typeface="Calibri"/>
              </a:rPr>
              <a:t>   Premium income is unstable.</a:t>
            </a:r>
            <a:endParaRPr lang="en-US" sz="2000">
              <a:ea typeface="Calibri" panose="020F0502020204030204"/>
              <a:cs typeface="Calibri" panose="020F0502020204030204"/>
            </a:endParaRPr>
          </a:p>
          <a:p>
            <a:pPr marL="228600" indent="-228600">
              <a:buNone/>
            </a:pPr>
            <a:r>
              <a:rPr lang="en-US" sz="1300">
                <a:solidFill>
                  <a:srgbClr val="CFE0FF"/>
                </a:solidFill>
                <a:ea typeface="Calibri"/>
                <a:cs typeface="Calibri"/>
              </a:rPr>
              <a:t>               </a:t>
            </a:r>
            <a:r>
              <a:rPr lang="en-US" sz="1400">
                <a:solidFill>
                  <a:srgbClr val="CFE0FF"/>
                </a:solidFill>
                <a:ea typeface="Calibri"/>
                <a:cs typeface="Calibri"/>
              </a:rPr>
              <a:t> Growth swings up and down every year instead of rising steadily.</a:t>
            </a:r>
            <a:endParaRPr lang="en-US" sz="1400">
              <a:solidFill>
                <a:srgbClr val="000000"/>
              </a:solidFill>
              <a:ea typeface="Calibri"/>
              <a:cs typeface="Calibri"/>
            </a:endParaRPr>
          </a:p>
          <a:p>
            <a:pPr marL="228600" indent="-228600">
              <a:buNone/>
            </a:pPr>
            <a:r>
              <a:rPr lang="en-US" sz="1700" b="1">
                <a:ea typeface="Calibri"/>
                <a:cs typeface="Calibri"/>
              </a:rPr>
              <a:t>            </a:t>
            </a:r>
            <a:endParaRPr lang="en-US" sz="1700">
              <a:solidFill>
                <a:srgbClr val="000000"/>
              </a:solidFill>
              <a:ea typeface="Calibri"/>
              <a:cs typeface="Calibri"/>
            </a:endParaRPr>
          </a:p>
          <a:p>
            <a:pPr marL="228600" indent="-228600">
              <a:buNone/>
            </a:pPr>
            <a:r>
              <a:rPr lang="en-US" sz="1700" b="1">
                <a:ea typeface="Calibri"/>
                <a:cs typeface="Calibri"/>
              </a:rPr>
              <a:t>        </a:t>
            </a:r>
            <a:r>
              <a:rPr lang="en-US" sz="2000" b="1">
                <a:ea typeface="Calibri"/>
                <a:cs typeface="Calibri"/>
              </a:rPr>
              <a:t> Health insurance is the strongest product.</a:t>
            </a:r>
            <a:endParaRPr lang="en-US" sz="2000">
              <a:solidFill>
                <a:srgbClr val="000000"/>
              </a:solidFill>
              <a:ea typeface="Calibri"/>
              <a:cs typeface="Calibri"/>
            </a:endParaRPr>
          </a:p>
          <a:p>
            <a:pPr marL="228600" indent="-228600">
              <a:buNone/>
            </a:pPr>
            <a:r>
              <a:rPr lang="en-US" sz="1300">
                <a:solidFill>
                  <a:srgbClr val="CFE0FF"/>
                </a:solidFill>
                <a:ea typeface="Calibri"/>
                <a:cs typeface="Calibri"/>
              </a:rPr>
              <a:t>              </a:t>
            </a:r>
            <a:r>
              <a:rPr lang="en-US" sz="1400">
                <a:solidFill>
                  <a:srgbClr val="CFE0FF"/>
                </a:solidFill>
                <a:ea typeface="Calibri"/>
                <a:cs typeface="Calibri"/>
              </a:rPr>
              <a:t> It sells the most and brings in the most premium — our biggest strength.</a:t>
            </a:r>
            <a:endParaRPr lang="en-US" sz="1400">
              <a:solidFill>
                <a:srgbClr val="000000"/>
              </a:solidFill>
              <a:ea typeface="Calibri"/>
              <a:cs typeface="Calibri"/>
            </a:endParaRPr>
          </a:p>
          <a:p>
            <a:pPr marL="228600" indent="-228600">
              <a:buNone/>
            </a:pPr>
            <a:endParaRPr lang="en-US" sz="1700" b="1">
              <a:solidFill>
                <a:srgbClr val="FFFFFF"/>
              </a:solidFill>
              <a:ea typeface="Calibri"/>
              <a:cs typeface="Calibri"/>
            </a:endParaRPr>
          </a:p>
          <a:p>
            <a:pPr marL="228600" indent="-228600">
              <a:buNone/>
            </a:pPr>
            <a:endParaRPr lang="en-US" sz="1300">
              <a:solidFill>
                <a:srgbClr val="CFE0FF"/>
              </a:solidFill>
              <a:ea typeface="Calibri"/>
              <a:cs typeface="Calibri"/>
            </a:endParaRPr>
          </a:p>
          <a:p>
            <a:pPr marL="228600" indent="-228600">
              <a:buNone/>
            </a:pPr>
            <a:endParaRPr lang="en-US" sz="1700" b="1">
              <a:ea typeface="Calibri"/>
              <a:cs typeface="Calibri"/>
            </a:endParaRPr>
          </a:p>
          <a:p>
            <a:pPr marL="228600" indent="-228600">
              <a:buNone/>
            </a:pPr>
            <a:endParaRPr lang="en-US" sz="1700" b="1">
              <a:ea typeface="Calibri"/>
              <a:cs typeface="Calibri"/>
            </a:endParaRPr>
          </a:p>
          <a:p>
            <a:pPr marL="0" indent="0">
              <a:buNone/>
            </a:pPr>
            <a:endParaRPr lang="en-US">
              <a:ea typeface="Calibri"/>
              <a:cs typeface="Calibri"/>
            </a:endParaRPr>
          </a:p>
        </p:txBody>
      </p:sp>
      <p:pic>
        <p:nvPicPr>
          <p:cNvPr id="8" name="Picture 7" descr="Warning with solid fill">
            <a:extLst>
              <a:ext uri="{FF2B5EF4-FFF2-40B4-BE49-F238E27FC236}">
                <a16:creationId xmlns:a16="http://schemas.microsoft.com/office/drawing/2014/main" id="{81330DD6-4B66-E820-247E-FEE5F66C67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2998" y="1477055"/>
            <a:ext cx="442235" cy="449491"/>
          </a:xfrm>
          <a:prstGeom prst="rect">
            <a:avLst/>
          </a:prstGeom>
        </p:spPr>
      </p:pic>
      <p:pic>
        <p:nvPicPr>
          <p:cNvPr id="9" name="Picture 8" descr="Hourglass Finished with solid fill">
            <a:extLst>
              <a:ext uri="{FF2B5EF4-FFF2-40B4-BE49-F238E27FC236}">
                <a16:creationId xmlns:a16="http://schemas.microsoft.com/office/drawing/2014/main" id="{9ED3844E-36CB-E1E2-AF41-E60502BC4E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3882" y="2554740"/>
            <a:ext cx="449490" cy="442233"/>
          </a:xfrm>
          <a:prstGeom prst="rect">
            <a:avLst/>
          </a:prstGeom>
        </p:spPr>
      </p:pic>
      <p:pic>
        <p:nvPicPr>
          <p:cNvPr id="10" name="Picture 9" descr="Scales of justice with solid fill">
            <a:extLst>
              <a:ext uri="{FF2B5EF4-FFF2-40B4-BE49-F238E27FC236}">
                <a16:creationId xmlns:a16="http://schemas.microsoft.com/office/drawing/2014/main" id="{4026F189-98C4-5BB5-1354-142DD40C05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4940" y="3588883"/>
            <a:ext cx="594634" cy="478519"/>
          </a:xfrm>
          <a:prstGeom prst="rect">
            <a:avLst/>
          </a:prstGeom>
        </p:spPr>
      </p:pic>
      <p:pic>
        <p:nvPicPr>
          <p:cNvPr id="11" name="Picture 10" descr="Heart with solid fill">
            <a:extLst>
              <a:ext uri="{FF2B5EF4-FFF2-40B4-BE49-F238E27FC236}">
                <a16:creationId xmlns:a16="http://schemas.microsoft.com/office/drawing/2014/main" id="{D08EBDEC-8194-BA3C-BD95-5E0A7A832E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5910" y="4630283"/>
            <a:ext cx="529321" cy="464006"/>
          </a:xfrm>
          <a:prstGeom prst="rect">
            <a:avLst/>
          </a:prstGeom>
        </p:spPr>
      </p:pic>
    </p:spTree>
    <p:extLst>
      <p:ext uri="{BB962C8B-B14F-4D97-AF65-F5344CB8AC3E}">
        <p14:creationId xmlns:p14="http://schemas.microsoft.com/office/powerpoint/2010/main" val="2478148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0B7EA-8C42-C040-4A01-DF7978D7DE41}"/>
              </a:ext>
            </a:extLst>
          </p:cNvPr>
          <p:cNvSpPr>
            <a:spLocks noGrp="1"/>
          </p:cNvSpPr>
          <p:nvPr>
            <p:ph type="title"/>
          </p:nvPr>
        </p:nvSpPr>
        <p:spPr>
          <a:xfrm>
            <a:off x="838200" y="190955"/>
            <a:ext cx="10515600" cy="1122363"/>
          </a:xfrm>
        </p:spPr>
        <p:txBody>
          <a:bodyPr>
            <a:normAutofit/>
          </a:bodyPr>
          <a:lstStyle/>
          <a:p>
            <a:pPr algn="ctr"/>
            <a:r>
              <a:rPr lang="en-US" sz="4000" b="1">
                <a:solidFill>
                  <a:srgbClr val="FFC000"/>
                </a:solidFill>
                <a:latin typeface="Aptos"/>
              </a:rPr>
              <a:t>Recommendations</a:t>
            </a:r>
            <a:br>
              <a:rPr lang="en-US" sz="4000" b="1">
                <a:latin typeface="Aptos"/>
              </a:rPr>
            </a:br>
            <a:r>
              <a:rPr lang="en-US" sz="1600" i="1">
                <a:solidFill>
                  <a:srgbClr val="CFE0FF"/>
                </a:solidFill>
                <a:latin typeface="Calibri"/>
                <a:ea typeface="Calibri"/>
                <a:cs typeface="Calibri"/>
              </a:rPr>
              <a:t>Simple next steps to fix the gaps</a:t>
            </a:r>
            <a:endParaRPr lang="en-US" sz="1600">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D3B2D529-FC2A-47DC-5941-F59D1DE15AAB}"/>
              </a:ext>
            </a:extLst>
          </p:cNvPr>
          <p:cNvSpPr>
            <a:spLocks noGrp="1"/>
          </p:cNvSpPr>
          <p:nvPr>
            <p:ph idx="1"/>
          </p:nvPr>
        </p:nvSpPr>
        <p:spPr/>
        <p:txBody>
          <a:bodyPr vert="horz" lIns="91440" tIns="45720" rIns="91440" bIns="45720" rtlCol="0" anchor="t">
            <a:normAutofit/>
          </a:bodyPr>
          <a:lstStyle/>
          <a:p>
            <a:pPr marL="0" indent="0">
              <a:buNone/>
            </a:pPr>
            <a:r>
              <a:rPr lang="en-US" sz="1600">
                <a:ea typeface="Calibri"/>
                <a:cs typeface="Calibri"/>
              </a:rPr>
              <a:t>Call and remind customers before their policy expires, starting with the 2025 group.</a:t>
            </a:r>
            <a:endParaRPr lang="en-US"/>
          </a:p>
          <a:p>
            <a:pPr marL="228600" indent="-228600"/>
            <a:endParaRPr lang="en-US" sz="1600">
              <a:ea typeface="Calibri"/>
              <a:cs typeface="Calibri"/>
            </a:endParaRPr>
          </a:p>
          <a:p>
            <a:pPr marL="228600" indent="-228600"/>
            <a:endParaRPr lang="en-US" sz="1600">
              <a:ea typeface="Calibri"/>
              <a:cs typeface="Calibri"/>
            </a:endParaRPr>
          </a:p>
          <a:p>
            <a:pPr marL="0" indent="0">
              <a:buNone/>
            </a:pPr>
            <a:r>
              <a:rPr lang="en-US" sz="1600">
                <a:ea typeface="Calibri"/>
                <a:cs typeface="Calibri"/>
              </a:rPr>
              <a:t>Win back lapsed customers with simple offers, especially older (56+) customers.</a:t>
            </a:r>
          </a:p>
          <a:p>
            <a:pPr marL="228600" indent="-228600"/>
            <a:endParaRPr lang="en-US" sz="1600">
              <a:ea typeface="Calibri"/>
              <a:cs typeface="Calibri"/>
            </a:endParaRPr>
          </a:p>
          <a:p>
            <a:pPr marL="228600" indent="-228600"/>
            <a:endParaRPr lang="en-US" sz="1600">
              <a:ea typeface="Calibri"/>
              <a:cs typeface="Calibri"/>
            </a:endParaRPr>
          </a:p>
          <a:p>
            <a:pPr marL="0" indent="0">
              <a:buNone/>
            </a:pPr>
            <a:r>
              <a:rPr lang="en-US" sz="1600">
                <a:ea typeface="Calibri"/>
                <a:cs typeface="Calibri"/>
              </a:rPr>
              <a:t>Promote Auto insurance more, since it sells the least right now.</a:t>
            </a:r>
          </a:p>
          <a:p>
            <a:pPr marL="228600" indent="-228600"/>
            <a:endParaRPr lang="en-US" sz="1600">
              <a:ea typeface="Calibri"/>
              <a:cs typeface="Calibri"/>
            </a:endParaRPr>
          </a:p>
          <a:p>
            <a:pPr marL="228600" indent="-228600"/>
            <a:endParaRPr lang="en-US" sz="1600">
              <a:ea typeface="Calibri"/>
              <a:cs typeface="Calibri"/>
            </a:endParaRPr>
          </a:p>
          <a:p>
            <a:pPr marL="0" indent="0">
              <a:buNone/>
            </a:pPr>
            <a:r>
              <a:rPr lang="en-US" sz="1600">
                <a:ea typeface="Calibri"/>
                <a:cs typeface="Calibri"/>
              </a:rPr>
              <a:t>Fix online payment problems so fewer transactions fail.</a:t>
            </a:r>
          </a:p>
          <a:p>
            <a:pPr marL="228600" indent="-228600"/>
            <a:endParaRPr lang="en-US" sz="1600">
              <a:ea typeface="Calibri"/>
              <a:cs typeface="Calibri"/>
            </a:endParaRPr>
          </a:p>
        </p:txBody>
      </p:sp>
      <p:sp>
        <p:nvSpPr>
          <p:cNvPr id="4" name="Oval 3">
            <a:extLst>
              <a:ext uri="{FF2B5EF4-FFF2-40B4-BE49-F238E27FC236}">
                <a16:creationId xmlns:a16="http://schemas.microsoft.com/office/drawing/2014/main" id="{464D4C64-126E-AE21-6750-EDC8C74DFE9A}"/>
              </a:ext>
            </a:extLst>
          </p:cNvPr>
          <p:cNvSpPr/>
          <p:nvPr/>
        </p:nvSpPr>
        <p:spPr>
          <a:xfrm>
            <a:off x="535540" y="1809259"/>
            <a:ext cx="289481" cy="318429"/>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1</a:t>
            </a:r>
            <a:endParaRPr lang="en-US"/>
          </a:p>
        </p:txBody>
      </p:sp>
      <p:sp>
        <p:nvSpPr>
          <p:cNvPr id="7" name="Oval 6">
            <a:extLst>
              <a:ext uri="{FF2B5EF4-FFF2-40B4-BE49-F238E27FC236}">
                <a16:creationId xmlns:a16="http://schemas.microsoft.com/office/drawing/2014/main" id="{27A2F13A-3C58-811D-1106-D9249B8276D0}"/>
              </a:ext>
            </a:extLst>
          </p:cNvPr>
          <p:cNvSpPr/>
          <p:nvPr/>
        </p:nvSpPr>
        <p:spPr>
          <a:xfrm>
            <a:off x="535539" y="2854287"/>
            <a:ext cx="289481" cy="318429"/>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2</a:t>
            </a:r>
          </a:p>
        </p:txBody>
      </p:sp>
      <p:sp>
        <p:nvSpPr>
          <p:cNvPr id="8" name="Oval 7">
            <a:extLst>
              <a:ext uri="{FF2B5EF4-FFF2-40B4-BE49-F238E27FC236}">
                <a16:creationId xmlns:a16="http://schemas.microsoft.com/office/drawing/2014/main" id="{70909DF1-F4AE-AF2B-AB91-1FDBEB6A0EBA}"/>
              </a:ext>
            </a:extLst>
          </p:cNvPr>
          <p:cNvSpPr/>
          <p:nvPr/>
        </p:nvSpPr>
        <p:spPr>
          <a:xfrm>
            <a:off x="535539" y="3841258"/>
            <a:ext cx="289481" cy="318429"/>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3</a:t>
            </a:r>
          </a:p>
        </p:txBody>
      </p:sp>
      <p:sp>
        <p:nvSpPr>
          <p:cNvPr id="9" name="Oval 8">
            <a:extLst>
              <a:ext uri="{FF2B5EF4-FFF2-40B4-BE49-F238E27FC236}">
                <a16:creationId xmlns:a16="http://schemas.microsoft.com/office/drawing/2014/main" id="{2264217F-48B2-9D7E-E238-07E43524F5A7}"/>
              </a:ext>
            </a:extLst>
          </p:cNvPr>
          <p:cNvSpPr/>
          <p:nvPr/>
        </p:nvSpPr>
        <p:spPr>
          <a:xfrm>
            <a:off x="535539" y="4886287"/>
            <a:ext cx="289481" cy="318429"/>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4</a:t>
            </a:r>
          </a:p>
        </p:txBody>
      </p:sp>
    </p:spTree>
    <p:extLst>
      <p:ext uri="{BB962C8B-B14F-4D97-AF65-F5344CB8AC3E}">
        <p14:creationId xmlns:p14="http://schemas.microsoft.com/office/powerpoint/2010/main" val="3496035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F53F47-3E3E-4EE9-ED42-B412C57BF7C4}"/>
              </a:ext>
            </a:extLst>
          </p:cNvPr>
          <p:cNvSpPr>
            <a:spLocks noGrp="1"/>
          </p:cNvSpPr>
          <p:nvPr>
            <p:ph idx="1"/>
          </p:nvPr>
        </p:nvSpPr>
        <p:spPr>
          <a:xfrm>
            <a:off x="939800" y="838654"/>
            <a:ext cx="10515600" cy="4351338"/>
          </a:xfrm>
        </p:spPr>
        <p:txBody>
          <a:bodyPr vert="horz" lIns="91440" tIns="45720" rIns="91440" bIns="45720" rtlCol="0" anchor="ctr">
            <a:normAutofit/>
          </a:bodyPr>
          <a:lstStyle/>
          <a:p>
            <a:pPr marL="0" indent="0" algn="ctr">
              <a:buNone/>
            </a:pPr>
            <a:r>
              <a:rPr lang="en-US" sz="4400" b="1">
                <a:solidFill>
                  <a:srgbClr val="FFC000"/>
                </a:solidFill>
                <a:latin typeface="Aptos"/>
                <a:ea typeface="+mj-ea"/>
                <a:cs typeface="+mj-cs"/>
              </a:rPr>
              <a:t>THANK</a:t>
            </a:r>
            <a:r>
              <a:rPr lang="en-US" sz="4400">
                <a:solidFill>
                  <a:schemeClr val="accent4">
                    <a:lumMod val="76000"/>
                  </a:schemeClr>
                </a:solidFill>
                <a:ea typeface="Calibri"/>
                <a:cs typeface="Calibri"/>
              </a:rPr>
              <a:t> </a:t>
            </a:r>
            <a:r>
              <a:rPr lang="en-US" sz="4400" b="1">
                <a:solidFill>
                  <a:srgbClr val="FFC000"/>
                </a:solidFill>
                <a:latin typeface="Aptos"/>
                <a:ea typeface="+mj-ea"/>
                <a:cs typeface="+mj-cs"/>
              </a:rPr>
              <a:t>YOU</a:t>
            </a:r>
            <a:endParaRPr lang="en-US" sz="4400">
              <a:ea typeface="Calibri"/>
              <a:cs typeface="Calibri"/>
            </a:endParaRPr>
          </a:p>
        </p:txBody>
      </p:sp>
      <p:pic>
        <p:nvPicPr>
          <p:cNvPr id="4" name="Graphic 3">
            <a:extLst>
              <a:ext uri="{FF2B5EF4-FFF2-40B4-BE49-F238E27FC236}">
                <a16:creationId xmlns:a16="http://schemas.microsoft.com/office/drawing/2014/main" id="{68070F56-5EFC-055B-5FFA-C23974CE3B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6743" y="3639457"/>
            <a:ext cx="1538514" cy="1545771"/>
          </a:xfrm>
          <a:prstGeom prst="rect">
            <a:avLst/>
          </a:prstGeom>
        </p:spPr>
      </p:pic>
    </p:spTree>
    <p:extLst>
      <p:ext uri="{BB962C8B-B14F-4D97-AF65-F5344CB8AC3E}">
        <p14:creationId xmlns:p14="http://schemas.microsoft.com/office/powerpoint/2010/main" val="18960204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Insurance Analytics Dashboard</vt:lpstr>
      <vt:lpstr>Agenda</vt:lpstr>
      <vt:lpstr>Introduction</vt:lpstr>
      <vt:lpstr>Project Goal</vt:lpstr>
      <vt:lpstr>Dataset Description</vt:lpstr>
      <vt:lpstr>Excel Dashboard Overview</vt:lpstr>
      <vt:lpstr>KPI Overview &amp; Policy Performance</vt:lpstr>
      <vt:lpstr>Customer Analysis &amp; Payment Insights</vt:lpstr>
      <vt:lpstr>Overall Insights, Recommendations &amp;  Conclusion</vt:lpstr>
      <vt:lpstr> Power Bi Dashboard Overview</vt:lpstr>
      <vt:lpstr>KPI Overview &amp; Policy Performance </vt:lpstr>
      <vt:lpstr>Policy Status &amp; Gender Filters </vt:lpstr>
      <vt:lpstr>Overall Insights, Recommendations &amp; Conclusion </vt:lpstr>
      <vt:lpstr>SQL Queries</vt:lpstr>
      <vt:lpstr>PowerPoint Presentation</vt:lpstr>
      <vt:lpstr>PowerPoint Presentation</vt:lpstr>
      <vt:lpstr>PowerPoint Presentation</vt:lpstr>
      <vt:lpstr>PowerPoint Presentation</vt:lpstr>
      <vt:lpstr>Tableau Dashboard overviews</vt:lpstr>
      <vt:lpstr>KPI Overview &amp; Policy Performance </vt:lpstr>
      <vt:lpstr>Policy Type Analysis &amp; Policy Trend Analysis  </vt:lpstr>
      <vt:lpstr>Overall Insights, Recommendations &amp; Conclusion </vt:lpstr>
      <vt:lpstr>Conclusion</vt:lpstr>
      <vt:lpstr>Recommendations Simple next steps to fix the gaps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Analytics Dashboard</dc:title>
  <dc:creator>Microsoft account</dc:creator>
  <cp:revision>2</cp:revision>
  <dcterms:created xsi:type="dcterms:W3CDTF">2026-07-25T10:28:02Z</dcterms:created>
  <dcterms:modified xsi:type="dcterms:W3CDTF">2026-08-02T06:23:48Z</dcterms:modified>
</cp:coreProperties>
</file>